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58" r:id="rId5"/>
    <p:sldId id="261" r:id="rId6"/>
    <p:sldId id="262" r:id="rId7"/>
    <p:sldId id="263" r:id="rId8"/>
    <p:sldId id="264" r:id="rId9"/>
    <p:sldId id="265" r:id="rId10"/>
    <p:sldId id="269" r:id="rId11"/>
    <p:sldId id="267" r:id="rId12"/>
    <p:sldId id="268" r:id="rId13"/>
    <p:sldId id="270" r:id="rId14"/>
    <p:sldId id="271" r:id="rId15"/>
    <p:sldId id="276" r:id="rId16"/>
    <p:sldId id="272" r:id="rId17"/>
    <p:sldId id="273" r:id="rId18"/>
    <p:sldId id="274" r:id="rId19"/>
    <p:sldId id="275" r:id="rId20"/>
    <p:sldId id="277" r:id="rId21"/>
    <p:sldId id="279" r:id="rId22"/>
    <p:sldId id="278" r:id="rId23"/>
    <p:sldId id="280" r:id="rId24"/>
    <p:sldId id="282" r:id="rId25"/>
    <p:sldId id="283" r:id="rId26"/>
    <p:sldId id="286" r:id="rId27"/>
    <p:sldId id="289" r:id="rId28"/>
    <p:sldId id="288" r:id="rId29"/>
    <p:sldId id="287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259" r:id="rId49"/>
    <p:sldId id="308" r:id="rId50"/>
    <p:sldId id="309" r:id="rId51"/>
    <p:sldId id="310" r:id="rId52"/>
    <p:sldId id="311" r:id="rId53"/>
    <p:sldId id="324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3" r:id="rId64"/>
    <p:sldId id="321" r:id="rId65"/>
    <p:sldId id="327" r:id="rId66"/>
    <p:sldId id="329" r:id="rId67"/>
    <p:sldId id="328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3" r:id="rId80"/>
    <p:sldId id="342" r:id="rId81"/>
    <p:sldId id="344" r:id="rId82"/>
    <p:sldId id="345" r:id="rId83"/>
    <p:sldId id="341" r:id="rId84"/>
    <p:sldId id="348" r:id="rId85"/>
    <p:sldId id="349" r:id="rId86"/>
    <p:sldId id="350" r:id="rId87"/>
    <p:sldId id="351" r:id="rId88"/>
    <p:sldId id="352" r:id="rId89"/>
    <p:sldId id="353" r:id="rId90"/>
    <p:sldId id="354" r:id="rId91"/>
    <p:sldId id="355" r:id="rId92"/>
    <p:sldId id="356" r:id="rId93"/>
    <p:sldId id="357" r:id="rId94"/>
    <p:sldId id="358" r:id="rId95"/>
    <p:sldId id="424" r:id="rId96"/>
    <p:sldId id="359" r:id="rId97"/>
    <p:sldId id="360" r:id="rId98"/>
    <p:sldId id="361" r:id="rId99"/>
    <p:sldId id="362" r:id="rId100"/>
    <p:sldId id="363" r:id="rId101"/>
    <p:sldId id="364" r:id="rId102"/>
    <p:sldId id="365" r:id="rId103"/>
    <p:sldId id="366" r:id="rId104"/>
    <p:sldId id="367" r:id="rId105"/>
    <p:sldId id="368" r:id="rId106"/>
    <p:sldId id="369" r:id="rId107"/>
    <p:sldId id="370" r:id="rId108"/>
    <p:sldId id="371" r:id="rId109"/>
    <p:sldId id="372" r:id="rId110"/>
    <p:sldId id="373" r:id="rId111"/>
    <p:sldId id="374" r:id="rId112"/>
    <p:sldId id="375" r:id="rId113"/>
    <p:sldId id="376" r:id="rId114"/>
    <p:sldId id="377" r:id="rId115"/>
    <p:sldId id="378" r:id="rId116"/>
    <p:sldId id="379" r:id="rId117"/>
    <p:sldId id="380" r:id="rId118"/>
    <p:sldId id="381" r:id="rId119"/>
    <p:sldId id="382" r:id="rId120"/>
    <p:sldId id="383" r:id="rId121"/>
    <p:sldId id="384" r:id="rId122"/>
    <p:sldId id="385" r:id="rId123"/>
    <p:sldId id="386" r:id="rId124"/>
    <p:sldId id="387" r:id="rId125"/>
    <p:sldId id="388" r:id="rId126"/>
    <p:sldId id="389" r:id="rId127"/>
    <p:sldId id="390" r:id="rId128"/>
    <p:sldId id="391" r:id="rId129"/>
    <p:sldId id="392" r:id="rId130"/>
    <p:sldId id="393" r:id="rId131"/>
    <p:sldId id="394" r:id="rId132"/>
    <p:sldId id="395" r:id="rId133"/>
    <p:sldId id="396" r:id="rId134"/>
    <p:sldId id="397" r:id="rId135"/>
    <p:sldId id="398" r:id="rId136"/>
    <p:sldId id="399" r:id="rId137"/>
    <p:sldId id="400" r:id="rId138"/>
    <p:sldId id="401" r:id="rId139"/>
    <p:sldId id="402" r:id="rId140"/>
    <p:sldId id="403" r:id="rId141"/>
    <p:sldId id="404" r:id="rId142"/>
    <p:sldId id="405" r:id="rId143"/>
    <p:sldId id="406" r:id="rId144"/>
    <p:sldId id="407" r:id="rId145"/>
    <p:sldId id="408" r:id="rId146"/>
    <p:sldId id="409" r:id="rId147"/>
    <p:sldId id="410" r:id="rId148"/>
    <p:sldId id="411" r:id="rId149"/>
    <p:sldId id="412" r:id="rId150"/>
    <p:sldId id="413" r:id="rId151"/>
    <p:sldId id="414" r:id="rId152"/>
    <p:sldId id="415" r:id="rId153"/>
    <p:sldId id="416" r:id="rId154"/>
    <p:sldId id="417" r:id="rId155"/>
    <p:sldId id="418" r:id="rId156"/>
    <p:sldId id="419" r:id="rId157"/>
    <p:sldId id="420" r:id="rId158"/>
    <p:sldId id="421" r:id="rId159"/>
    <p:sldId id="422" r:id="rId160"/>
    <p:sldId id="423" r:id="rId161"/>
    <p:sldId id="425" r:id="rId1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99FF"/>
    <a:srgbClr val="FFC000"/>
    <a:srgbClr val="70AD47"/>
    <a:srgbClr val="000000"/>
    <a:srgbClr val="C66059"/>
    <a:srgbClr val="DCDE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2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5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5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9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9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8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79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6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1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6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3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3C88D-0BF6-41C2-BA48-305AF12BFF7E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EC1CF-FA43-412A-8249-51B9A262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7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Lesson 3: Loops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1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imitates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languages are designed to mimic the way humans think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763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loops?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way to do something repetitively, without having to write the code repetitively</a:t>
            </a:r>
          </a:p>
        </p:txBody>
      </p:sp>
    </p:spTree>
    <p:extLst>
      <p:ext uri="{BB962C8B-B14F-4D97-AF65-F5344CB8AC3E}">
        <p14:creationId xmlns:p14="http://schemas.microsoft.com/office/powerpoint/2010/main" val="3136783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the wild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Grocery shopping </a:t>
            </a:r>
          </a:p>
          <a:p>
            <a:r>
              <a:rPr lang="en-US" dirty="0"/>
              <a:t>Card dealing</a:t>
            </a:r>
          </a:p>
          <a:p>
            <a:r>
              <a:rPr lang="en-US" dirty="0"/>
              <a:t>Athletic training </a:t>
            </a:r>
          </a:p>
        </p:txBody>
      </p:sp>
    </p:spTree>
    <p:extLst>
      <p:ext uri="{BB962C8B-B14F-4D97-AF65-F5344CB8AC3E}">
        <p14:creationId xmlns:p14="http://schemas.microsoft.com/office/powerpoint/2010/main" val="33752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Executes a command only </a:t>
            </a:r>
            <a:r>
              <a:rPr lang="en-US" b="1" i="1" dirty="0"/>
              <a:t>while</a:t>
            </a:r>
            <a:r>
              <a:rPr lang="en-US" dirty="0"/>
              <a:t> a certain condition is met</a:t>
            </a:r>
          </a:p>
          <a:p>
            <a:r>
              <a:rPr lang="en-US" dirty="0"/>
              <a:t>Runs repetitively, line-by-line, until condition is no-longer met</a:t>
            </a:r>
          </a:p>
          <a:p>
            <a:r>
              <a:rPr lang="en-US" dirty="0"/>
              <a:t>Examples?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863" y="3330429"/>
            <a:ext cx="5414139" cy="33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26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 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96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 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70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 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288371" y="1825625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4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 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309693" y="1825623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273330" y="1824394"/>
            <a:ext cx="208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  <a:latin typeface="Andale Mono" panose="020B0509000000000004" pitchFamily="49" charset="0"/>
              </a:rPr>
              <a:t>condition met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 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1211160" y="2219907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7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 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1211160" y="2219907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50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 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sp>
        <p:nvSpPr>
          <p:cNvPr id="18" name="Bent Arrow 17"/>
          <p:cNvSpPr/>
          <p:nvPr/>
        </p:nvSpPr>
        <p:spPr>
          <a:xfrm>
            <a:off x="263183" y="1860369"/>
            <a:ext cx="575017" cy="666713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4890" y="2373631"/>
            <a:ext cx="1038327" cy="1534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45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 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309693" y="1825623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9273330" y="1824394"/>
            <a:ext cx="208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  <a:latin typeface="Andale Mono" panose="020B0509000000000004" pitchFamily="49" charset="0"/>
              </a:rPr>
              <a:t>condition met</a:t>
            </a:r>
          </a:p>
        </p:txBody>
      </p:sp>
    </p:spTree>
    <p:extLst>
      <p:ext uri="{BB962C8B-B14F-4D97-AF65-F5344CB8AC3E}">
        <p14:creationId xmlns:p14="http://schemas.microsoft.com/office/powerpoint/2010/main" val="2540592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1190537" y="2219907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02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1190537" y="2219907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92022" y="5331306"/>
            <a:ext cx="246236" cy="352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220359" y="5331306"/>
            <a:ext cx="246236" cy="3523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858582" y="5331306"/>
            <a:ext cx="246236" cy="3523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110326" y="5331306"/>
            <a:ext cx="246236" cy="3523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154793" y="5331306"/>
            <a:ext cx="246236" cy="35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07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92022" y="5331306"/>
            <a:ext cx="246236" cy="352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220359" y="5331306"/>
            <a:ext cx="246236" cy="3523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858582" y="5331306"/>
            <a:ext cx="246236" cy="3523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110326" y="5331306"/>
            <a:ext cx="246236" cy="3523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154793" y="5331306"/>
            <a:ext cx="246236" cy="352338"/>
          </a:xfrm>
          <a:prstGeom prst="rect">
            <a:avLst/>
          </a:prstGeom>
        </p:spPr>
      </p:pic>
      <p:sp>
        <p:nvSpPr>
          <p:cNvPr id="24" name="Bent Arrow 23"/>
          <p:cNvSpPr/>
          <p:nvPr/>
        </p:nvSpPr>
        <p:spPr>
          <a:xfrm>
            <a:off x="263183" y="1860369"/>
            <a:ext cx="575017" cy="666713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74890" y="2373631"/>
            <a:ext cx="1038327" cy="1534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71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92022" y="5331306"/>
            <a:ext cx="246236" cy="352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220359" y="5331306"/>
            <a:ext cx="246236" cy="3523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858582" y="5331306"/>
            <a:ext cx="246236" cy="3523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110326" y="5331306"/>
            <a:ext cx="246236" cy="3523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154793" y="5331306"/>
            <a:ext cx="246236" cy="352338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>
            <a:off x="318082" y="1875958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9273330" y="1824394"/>
            <a:ext cx="208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  <a:latin typeface="Andale Mono" panose="020B0509000000000004" pitchFamily="49" charset="0"/>
              </a:rPr>
              <a:t>condition met</a:t>
            </a:r>
          </a:p>
        </p:txBody>
      </p:sp>
    </p:spTree>
    <p:extLst>
      <p:ext uri="{BB962C8B-B14F-4D97-AF65-F5344CB8AC3E}">
        <p14:creationId xmlns:p14="http://schemas.microsoft.com/office/powerpoint/2010/main" val="2197062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92022" y="5331306"/>
            <a:ext cx="246236" cy="352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220359" y="5331306"/>
            <a:ext cx="246236" cy="3523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858582" y="5331306"/>
            <a:ext cx="246236" cy="3523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110326" y="5331306"/>
            <a:ext cx="246236" cy="3523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154793" y="5331306"/>
            <a:ext cx="246236" cy="352338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>
            <a:off x="1138258" y="2219907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03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92022" y="5331306"/>
            <a:ext cx="246236" cy="352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220359" y="5331306"/>
            <a:ext cx="246236" cy="3523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858582" y="5331306"/>
            <a:ext cx="246236" cy="3523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110326" y="5331306"/>
            <a:ext cx="246236" cy="3523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154793" y="5331306"/>
            <a:ext cx="246236" cy="352338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>
            <a:off x="1138258" y="2219907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44422" y="5483706"/>
            <a:ext cx="246236" cy="35233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372759" y="5483706"/>
            <a:ext cx="246236" cy="35233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6010982" y="5483706"/>
            <a:ext cx="246236" cy="35233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262726" y="5483706"/>
            <a:ext cx="246236" cy="35233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307193" y="5483706"/>
            <a:ext cx="246236" cy="35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84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92022" y="5331306"/>
            <a:ext cx="246236" cy="352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220359" y="5331306"/>
            <a:ext cx="246236" cy="3523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858582" y="5331306"/>
            <a:ext cx="246236" cy="3523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110326" y="5331306"/>
            <a:ext cx="246236" cy="3523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154793" y="5331306"/>
            <a:ext cx="246236" cy="35233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44422" y="5483706"/>
            <a:ext cx="246236" cy="35233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372759" y="5483706"/>
            <a:ext cx="246236" cy="35233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6010982" y="5483706"/>
            <a:ext cx="246236" cy="35233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262726" y="5483706"/>
            <a:ext cx="246236" cy="35233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307193" y="5483706"/>
            <a:ext cx="246236" cy="352338"/>
          </a:xfrm>
          <a:prstGeom prst="rect">
            <a:avLst/>
          </a:prstGeom>
        </p:spPr>
      </p:pic>
      <p:sp>
        <p:nvSpPr>
          <p:cNvPr id="30" name="Bent Arrow 29"/>
          <p:cNvSpPr/>
          <p:nvPr/>
        </p:nvSpPr>
        <p:spPr>
          <a:xfrm>
            <a:off x="263183" y="1860369"/>
            <a:ext cx="575017" cy="666713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74890" y="2373631"/>
            <a:ext cx="1038327" cy="1534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62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92022" y="5331306"/>
            <a:ext cx="246236" cy="352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220359" y="5331306"/>
            <a:ext cx="246236" cy="3523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858582" y="5331306"/>
            <a:ext cx="246236" cy="3523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110326" y="5331306"/>
            <a:ext cx="246236" cy="3523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154793" y="5331306"/>
            <a:ext cx="246236" cy="35233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44422" y="5483706"/>
            <a:ext cx="246236" cy="35233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372759" y="5483706"/>
            <a:ext cx="246236" cy="35233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6010982" y="5483706"/>
            <a:ext cx="246236" cy="35233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262726" y="5483706"/>
            <a:ext cx="246236" cy="35233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307193" y="5483706"/>
            <a:ext cx="246236" cy="352338"/>
          </a:xfrm>
          <a:prstGeom prst="rect">
            <a:avLst/>
          </a:prstGeom>
        </p:spPr>
      </p:pic>
      <p:sp>
        <p:nvSpPr>
          <p:cNvPr id="30" name="Bent Arrow 29"/>
          <p:cNvSpPr/>
          <p:nvPr/>
        </p:nvSpPr>
        <p:spPr>
          <a:xfrm>
            <a:off x="263183" y="1860369"/>
            <a:ext cx="575017" cy="666713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74890" y="2373631"/>
            <a:ext cx="1038327" cy="1534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9273330" y="1824394"/>
            <a:ext cx="208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ndale Mono" panose="020B0509000000000004" pitchFamily="49" charset="0"/>
              </a:rPr>
              <a:t>cond. NOT met</a:t>
            </a:r>
          </a:p>
        </p:txBody>
      </p:sp>
    </p:spTree>
    <p:extLst>
      <p:ext uri="{BB962C8B-B14F-4D97-AF65-F5344CB8AC3E}">
        <p14:creationId xmlns:p14="http://schemas.microsoft.com/office/powerpoint/2010/main" val="537883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92022" y="5331306"/>
            <a:ext cx="246236" cy="352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220359" y="5331306"/>
            <a:ext cx="246236" cy="3523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858582" y="5331306"/>
            <a:ext cx="246236" cy="3523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110326" y="5331306"/>
            <a:ext cx="246236" cy="3523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154793" y="5331306"/>
            <a:ext cx="246236" cy="35233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44422" y="5483706"/>
            <a:ext cx="246236" cy="35233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372759" y="5483706"/>
            <a:ext cx="246236" cy="35233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6010982" y="5483706"/>
            <a:ext cx="246236" cy="35233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262726" y="5483706"/>
            <a:ext cx="246236" cy="35233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307193" y="5483706"/>
            <a:ext cx="246236" cy="352338"/>
          </a:xfrm>
          <a:prstGeom prst="rect">
            <a:avLst/>
          </a:prstGeom>
        </p:spPr>
      </p:pic>
      <p:sp>
        <p:nvSpPr>
          <p:cNvPr id="4" name="Bent-Up Arrow 3"/>
          <p:cNvSpPr/>
          <p:nvPr/>
        </p:nvSpPr>
        <p:spPr>
          <a:xfrm rot="5400000">
            <a:off x="-15122" y="2354458"/>
            <a:ext cx="1206298" cy="607990"/>
          </a:xfrm>
          <a:prstGeom prst="ben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4032" y="1920367"/>
            <a:ext cx="607990" cy="17677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1918287" y="2179337"/>
            <a:ext cx="5092251" cy="5470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18287" y="2219907"/>
            <a:ext cx="5092251" cy="3726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849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while </a:t>
            </a:r>
            <a:r>
              <a:rPr lang="en-US" sz="1800" dirty="0">
                <a:latin typeface="Andale Mono" panose="020B0509000000000004" pitchFamily="49" charset="0"/>
              </a:rPr>
              <a:t>the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number of cards in each hand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is less than three</a:t>
            </a:r>
            <a:r>
              <a:rPr lang="en-US" sz="1800" dirty="0">
                <a:latin typeface="Andale Mono" panose="020B050900000000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deal an additional card </a:t>
            </a:r>
            <a:r>
              <a:rPr lang="en-US" sz="1800" dirty="0">
                <a:latin typeface="Andale Mono" panose="020B0509000000000004" pitchFamily="49" charset="0"/>
              </a:rPr>
              <a:t>to all players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start game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85" t="55177" r="82712" b="6542"/>
          <a:stretch/>
        </p:blipFill>
        <p:spPr>
          <a:xfrm>
            <a:off x="164605" y="5077242"/>
            <a:ext cx="533400" cy="1464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073" t="53317" r="69950" b="8426"/>
          <a:stretch/>
        </p:blipFill>
        <p:spPr>
          <a:xfrm>
            <a:off x="9238408" y="5057622"/>
            <a:ext cx="567266" cy="1464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647" t="9453" r="30835" b="49418"/>
          <a:stretch/>
        </p:blipFill>
        <p:spPr>
          <a:xfrm>
            <a:off x="7181075" y="5059886"/>
            <a:ext cx="509207" cy="1592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8135" t="53317" r="29662" b="5993"/>
          <a:stretch/>
        </p:blipFill>
        <p:spPr>
          <a:xfrm>
            <a:off x="4980935" y="5077242"/>
            <a:ext cx="533400" cy="1557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0824" t="8204" r="56586" b="50000"/>
          <a:stretch/>
        </p:blipFill>
        <p:spPr>
          <a:xfrm>
            <a:off x="2377431" y="4989889"/>
            <a:ext cx="550333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11112" y="1775290"/>
            <a:ext cx="2142688" cy="4446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39622" y="5178906"/>
            <a:ext cx="246236" cy="352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067959" y="5178906"/>
            <a:ext cx="246236" cy="352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706182" y="5178906"/>
            <a:ext cx="246236" cy="3523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7957926" y="5178906"/>
            <a:ext cx="246236" cy="3523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002393" y="5178906"/>
            <a:ext cx="246236" cy="3523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92022" y="5331306"/>
            <a:ext cx="246236" cy="352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220359" y="5331306"/>
            <a:ext cx="246236" cy="3523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5858582" y="5331306"/>
            <a:ext cx="246236" cy="3523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110326" y="5331306"/>
            <a:ext cx="246236" cy="3523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154793" y="5331306"/>
            <a:ext cx="246236" cy="35233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44422" y="5483706"/>
            <a:ext cx="246236" cy="35233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3372759" y="5483706"/>
            <a:ext cx="246236" cy="35233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6010982" y="5483706"/>
            <a:ext cx="246236" cy="35233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8262726" y="5483706"/>
            <a:ext cx="246236" cy="35233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4"/>
          <a:srcRect l="3675" t="2245" r="3033" b="2722"/>
          <a:stretch/>
        </p:blipFill>
        <p:spPr>
          <a:xfrm>
            <a:off x="10307193" y="5483706"/>
            <a:ext cx="246236" cy="352338"/>
          </a:xfrm>
          <a:prstGeom prst="rect">
            <a:avLst/>
          </a:prstGeom>
        </p:spPr>
      </p:pic>
      <p:sp>
        <p:nvSpPr>
          <p:cNvPr id="4" name="Bent-Up Arrow 3"/>
          <p:cNvSpPr/>
          <p:nvPr/>
        </p:nvSpPr>
        <p:spPr>
          <a:xfrm rot="5400000">
            <a:off x="-15122" y="2354458"/>
            <a:ext cx="1206298" cy="607990"/>
          </a:xfrm>
          <a:prstGeom prst="ben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4032" y="1920367"/>
            <a:ext cx="607990" cy="17677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1918287" y="2179337"/>
            <a:ext cx="5092251" cy="5470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18287" y="2219907"/>
            <a:ext cx="5092251" cy="3726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852" b="58426" l="61406" r="72240"/>
                    </a14:imgEffect>
                  </a14:imgLayer>
                </a14:imgProps>
              </a:ext>
            </a:extLst>
          </a:blip>
          <a:srcRect l="61443" t="12004" r="27715" b="41598"/>
          <a:stretch/>
        </p:blipFill>
        <p:spPr>
          <a:xfrm flipH="1">
            <a:off x="324260" y="4433982"/>
            <a:ext cx="230935" cy="55590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852" b="58426" l="61406" r="72240"/>
                    </a14:imgEffect>
                  </a14:imgLayer>
                </a14:imgProps>
              </a:ext>
            </a:extLst>
          </a:blip>
          <a:srcRect l="61443" t="12004" r="27715" b="41598"/>
          <a:stretch/>
        </p:blipFill>
        <p:spPr>
          <a:xfrm flipH="1">
            <a:off x="7320210" y="4436510"/>
            <a:ext cx="230935" cy="55590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852" b="58426" l="61406" r="72240"/>
                    </a14:imgEffect>
                  </a14:imgLayer>
                </a14:imgProps>
              </a:ext>
            </a:extLst>
          </a:blip>
          <a:srcRect l="61443" t="12004" r="27715" b="41598"/>
          <a:stretch/>
        </p:blipFill>
        <p:spPr>
          <a:xfrm flipH="1">
            <a:off x="5132167" y="4427496"/>
            <a:ext cx="230935" cy="555907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852" b="58426" l="61406" r="72240"/>
                    </a14:imgEffect>
                  </a14:imgLayer>
                </a14:imgProps>
              </a:ext>
            </a:extLst>
          </a:blip>
          <a:srcRect l="61443" t="12004" r="27715" b="41598"/>
          <a:stretch/>
        </p:blipFill>
        <p:spPr>
          <a:xfrm flipH="1">
            <a:off x="2537129" y="4433982"/>
            <a:ext cx="230935" cy="55590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852" b="58426" l="61406" r="72240"/>
                    </a14:imgEffect>
                  </a14:imgLayer>
                </a14:imgProps>
              </a:ext>
            </a:extLst>
          </a:blip>
          <a:srcRect l="61443" t="12004" r="27715" b="41598"/>
          <a:stretch/>
        </p:blipFill>
        <p:spPr>
          <a:xfrm flipH="1">
            <a:off x="9426134" y="4436510"/>
            <a:ext cx="230935" cy="55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81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questions are there?</a:t>
            </a:r>
          </a:p>
        </p:txBody>
      </p:sp>
    </p:spTree>
    <p:extLst>
      <p:ext uri="{BB962C8B-B14F-4D97-AF65-F5344CB8AC3E}">
        <p14:creationId xmlns:p14="http://schemas.microsoft.com/office/powerpoint/2010/main" val="2604874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1676"/>
            <a:ext cx="10515600" cy="1957810"/>
          </a:xfrm>
        </p:spPr>
        <p:txBody>
          <a:bodyPr/>
          <a:lstStyle/>
          <a:p>
            <a:r>
              <a:rPr lang="en-US" dirty="0"/>
              <a:t>A for loop executes command(s) for each element of a specified group</a:t>
            </a:r>
          </a:p>
          <a:p>
            <a:r>
              <a:rPr lang="en-US" dirty="0"/>
              <a:t>Runs iteratively, line-by-line, until the specified group is exhausted</a:t>
            </a:r>
          </a:p>
          <a:p>
            <a:r>
              <a:rPr lang="en-US" dirty="0"/>
              <a:t>Examples?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67066"/>
            <a:ext cx="5427677" cy="3318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35486" y="6385158"/>
            <a:ext cx="1988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from data36.com </a:t>
            </a:r>
          </a:p>
        </p:txBody>
      </p:sp>
    </p:spTree>
    <p:extLst>
      <p:ext uri="{BB962C8B-B14F-4D97-AF65-F5344CB8AC3E}">
        <p14:creationId xmlns:p14="http://schemas.microsoft.com/office/powerpoint/2010/main" val="412149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</p:spTree>
    <p:extLst>
      <p:ext uri="{BB962C8B-B14F-4D97-AF65-F5344CB8AC3E}">
        <p14:creationId xmlns:p14="http://schemas.microsoft.com/office/powerpoint/2010/main" val="4080606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Milk Clipart Dairy Graphics | Free clip art, Clip art, Milk cart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8" t="11570" r="28941" b="4542"/>
          <a:stretch/>
        </p:blipFill>
        <p:spPr bwMode="auto">
          <a:xfrm rot="511795">
            <a:off x="1825216" y="4260331"/>
            <a:ext cx="1042915" cy="181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39" y="4313614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543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Milk Clipart Dairy Graphics | Free clip art, Clip art, Milk cart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8" t="11570" r="28941" b="4542"/>
          <a:stretch/>
        </p:blipFill>
        <p:spPr bwMode="auto">
          <a:xfrm rot="511795">
            <a:off x="1825216" y="4260331"/>
            <a:ext cx="1042915" cy="181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39" y="4313614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8082" y="1825625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496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Milk Clipart Dairy Graphics | Free clip art, Clip art, Milk cart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8" t="11570" r="28941" b="4542"/>
          <a:stretch/>
        </p:blipFill>
        <p:spPr bwMode="auto">
          <a:xfrm rot="511795">
            <a:off x="1825216" y="4260331"/>
            <a:ext cx="1042915" cy="181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39" y="4313614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318082" y="1825625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341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39" y="4313614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318082" y="1825625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920919" y="179026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  <a:latin typeface="Andale Mono" panose="020B0509000000000004" pitchFamily="49" charset="0"/>
              </a:rPr>
              <a:t>yes</a:t>
            </a:r>
          </a:p>
        </p:txBody>
      </p:sp>
      <p:pic>
        <p:nvPicPr>
          <p:cNvPr id="12" name="Picture 6" descr="Milk Clipart Dairy Graphics | Free clip art, Clip art, Milk carton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8" t="11570" r="28941" b="4542"/>
          <a:stretch/>
        </p:blipFill>
        <p:spPr bwMode="auto">
          <a:xfrm rot="511795">
            <a:off x="4469087" y="4077259"/>
            <a:ext cx="1042915" cy="181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7236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lk Clipart Dairy Graphics | Free clip art, Clip art, Milk carton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8" t="11570" r="28941" b="4542"/>
          <a:stretch/>
        </p:blipFill>
        <p:spPr bwMode="auto">
          <a:xfrm rot="511795">
            <a:off x="4469087" y="4077259"/>
            <a:ext cx="1042915" cy="181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39" y="4313614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1260412" y="2169046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968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39" y="4313614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1219166" y="2573832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pic>
        <p:nvPicPr>
          <p:cNvPr id="1030" name="Picture 6" descr="Milk Clipart Dairy Graphics | Free clip art, Clip art, Milk carton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8" t="11570" r="28941" b="4542"/>
          <a:stretch/>
        </p:blipFill>
        <p:spPr bwMode="auto">
          <a:xfrm rot="511795">
            <a:off x="8938115" y="3271239"/>
            <a:ext cx="1042915" cy="181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301632"/>
            <a:ext cx="2775508" cy="3388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55086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39" y="4313614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7"/>
            <a:ext cx="2775508" cy="3388703"/>
          </a:xfrm>
          <a:prstGeom prst="rect">
            <a:avLst/>
          </a:prstGeom>
          <a:noFill/>
        </p:spPr>
      </p:pic>
      <p:sp>
        <p:nvSpPr>
          <p:cNvPr id="14" name="Bent Arrow 13"/>
          <p:cNvSpPr/>
          <p:nvPr/>
        </p:nvSpPr>
        <p:spPr>
          <a:xfrm>
            <a:off x="263183" y="1860369"/>
            <a:ext cx="575017" cy="782165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3183" y="2642534"/>
            <a:ext cx="1476101" cy="18822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42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3543690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7"/>
            <a:ext cx="2775508" cy="3388703"/>
          </a:xfrm>
          <a:prstGeom prst="rect">
            <a:avLst/>
          </a:prstGeom>
          <a:noFill/>
        </p:spPr>
      </p:pic>
      <p:sp>
        <p:nvSpPr>
          <p:cNvPr id="14" name="Bent Arrow 13"/>
          <p:cNvSpPr/>
          <p:nvPr/>
        </p:nvSpPr>
        <p:spPr>
          <a:xfrm>
            <a:off x="263183" y="1860369"/>
            <a:ext cx="575017" cy="782165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3183" y="2642534"/>
            <a:ext cx="1476101" cy="18822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920919" y="179026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  <a:latin typeface="Andale Mono" panose="020B0509000000000004" pitchFamily="49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2294685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652" y="3577730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7"/>
            <a:ext cx="2775508" cy="3388703"/>
          </a:xfrm>
          <a:prstGeom prst="rect">
            <a:avLst/>
          </a:prstGeom>
          <a:noFill/>
        </p:spPr>
      </p:pic>
      <p:sp>
        <p:nvSpPr>
          <p:cNvPr id="17" name="Right Arrow 16"/>
          <p:cNvSpPr/>
          <p:nvPr/>
        </p:nvSpPr>
        <p:spPr>
          <a:xfrm>
            <a:off x="1260412" y="2169046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38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sp>
        <p:nvSpPr>
          <p:cNvPr id="17" name="Right Arrow 16"/>
          <p:cNvSpPr/>
          <p:nvPr/>
        </p:nvSpPr>
        <p:spPr>
          <a:xfrm>
            <a:off x="1219166" y="2573569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Bread pictures cliparts | French bread, French bread loaf, Food ...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899" y="2745543"/>
            <a:ext cx="1128261" cy="188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7"/>
            <a:ext cx="2775508" cy="3388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7675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7"/>
            <a:ext cx="2775508" cy="3388703"/>
          </a:xfrm>
          <a:prstGeom prst="rect">
            <a:avLst/>
          </a:prstGeom>
          <a:noFill/>
        </p:spPr>
      </p:pic>
      <p:sp>
        <p:nvSpPr>
          <p:cNvPr id="14" name="Bent Arrow 13"/>
          <p:cNvSpPr/>
          <p:nvPr/>
        </p:nvSpPr>
        <p:spPr>
          <a:xfrm>
            <a:off x="263183" y="1860369"/>
            <a:ext cx="575017" cy="782165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3183" y="2642534"/>
            <a:ext cx="1476101" cy="18822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734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7" y="4680474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7"/>
            <a:ext cx="2775508" cy="3388703"/>
          </a:xfrm>
          <a:prstGeom prst="rect">
            <a:avLst/>
          </a:prstGeom>
          <a:noFill/>
        </p:spPr>
      </p:pic>
      <p:sp>
        <p:nvSpPr>
          <p:cNvPr id="14" name="Bent Arrow 13"/>
          <p:cNvSpPr/>
          <p:nvPr/>
        </p:nvSpPr>
        <p:spPr>
          <a:xfrm>
            <a:off x="263183" y="1860369"/>
            <a:ext cx="575017" cy="782165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3183" y="2642534"/>
            <a:ext cx="1476101" cy="18822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920919" y="179026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  <a:latin typeface="Andale Mono" panose="020B0509000000000004" pitchFamily="49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170782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549" y="3849553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7"/>
            <a:ext cx="2775508" cy="3388703"/>
          </a:xfrm>
          <a:prstGeom prst="rect">
            <a:avLst/>
          </a:prstGeom>
          <a:noFill/>
        </p:spPr>
      </p:pic>
      <p:sp>
        <p:nvSpPr>
          <p:cNvPr id="17" name="Right Arrow 16"/>
          <p:cNvSpPr/>
          <p:nvPr/>
        </p:nvSpPr>
        <p:spPr>
          <a:xfrm>
            <a:off x="1248983" y="2169046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54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sp>
        <p:nvSpPr>
          <p:cNvPr id="17" name="Right Arrow 16"/>
          <p:cNvSpPr/>
          <p:nvPr/>
        </p:nvSpPr>
        <p:spPr>
          <a:xfrm>
            <a:off x="1268862" y="2573569"/>
            <a:ext cx="520118" cy="343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Banana Cliparts, Download Free Clip Art, Free Clip Art on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227" y="3289126"/>
            <a:ext cx="1487714" cy="12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7"/>
            <a:ext cx="2775508" cy="3388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236662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74998"/>
            <a:ext cx="2775508" cy="3388703"/>
          </a:xfrm>
          <a:prstGeom prst="rect">
            <a:avLst/>
          </a:prstGeom>
          <a:noFill/>
        </p:spPr>
      </p:pic>
      <p:sp>
        <p:nvSpPr>
          <p:cNvPr id="12" name="Bent Arrow 11"/>
          <p:cNvSpPr/>
          <p:nvPr/>
        </p:nvSpPr>
        <p:spPr>
          <a:xfrm>
            <a:off x="263183" y="1860369"/>
            <a:ext cx="575017" cy="782165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3183" y="2642534"/>
            <a:ext cx="1476101" cy="18822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02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opping cart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4488296"/>
            <a:ext cx="2742952" cy="221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壊れやすい兆候と段ボール箱。バーコード スキャナーのスキャン バー ...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7415" r="23818" b="6860"/>
          <a:stretch/>
        </p:blipFill>
        <p:spPr bwMode="auto">
          <a:xfrm>
            <a:off x="3855028" y="3735199"/>
            <a:ext cx="769488" cy="12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89128"/>
            <a:ext cx="2775508" cy="3388703"/>
          </a:xfrm>
          <a:prstGeom prst="rect">
            <a:avLst/>
          </a:prstGeom>
          <a:noFill/>
        </p:spPr>
      </p:pic>
      <p:pic>
        <p:nvPicPr>
          <p:cNvPr id="13" name="Picture 2" descr="Brown Grocery Bag Clipart - Clip Art Library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7132" y1="27302" x2="77132" y2="27302"/>
                        <a14:foregroundMark x1="68217" y1="33016" x2="68217" y2="33016"/>
                        <a14:foregroundMark x1="4651" y1="50476" x2="4651" y2="50476"/>
                        <a14:foregroundMark x1="47287" y1="13651" x2="47287" y2="13651"/>
                        <a14:foregroundMark x1="24419" y1="13651" x2="25581" y2="6032"/>
                        <a14:backgroundMark x1="78682" y1="52063" x2="78682" y2="52063"/>
                        <a14:backgroundMark x1="75969" y1="17460" x2="75969" y2="17460"/>
                        <a14:backgroundMark x1="75969" y1="17460" x2="75969" y2="17460"/>
                        <a14:backgroundMark x1="84496" y1="18413" x2="84496" y2="18413"/>
                        <a14:backgroundMark x1="41085" y1="9841" x2="41085" y2="9841"/>
                        <a14:backgroundMark x1="42636" y1="13968" x2="42636" y2="13968"/>
                        <a14:backgroundMark x1="83721" y1="48254" x2="83721" y2="48254"/>
                        <a14:backgroundMark x1="90698" y1="73016" x2="74419" y2="33968"/>
                        <a14:backgroundMark x1="71318" y1="14921" x2="63953" y2="14286"/>
                        <a14:backgroundMark x1="52713" y1="13333" x2="47287" y2="1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12" y="3274998"/>
            <a:ext cx="2775508" cy="3388703"/>
          </a:xfrm>
          <a:prstGeom prst="rect">
            <a:avLst/>
          </a:prstGeom>
          <a:noFill/>
        </p:spPr>
      </p:pic>
      <p:sp>
        <p:nvSpPr>
          <p:cNvPr id="12" name="Bent Arrow 11"/>
          <p:cNvSpPr/>
          <p:nvPr/>
        </p:nvSpPr>
        <p:spPr>
          <a:xfrm>
            <a:off x="263183" y="1860369"/>
            <a:ext cx="575017" cy="782165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3183" y="2642534"/>
            <a:ext cx="1476101" cy="18822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20919" y="179026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ndale Mono" panose="020B0509000000000004" pitchFamily="49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144266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4545" cy="218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each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grocery basket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scan item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bag item</a:t>
            </a:r>
          </a:p>
          <a:p>
            <a:pPr marL="0" indent="0">
              <a:buNone/>
            </a:pP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print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687" y="1456293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item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2687" y="1825625"/>
            <a:ext cx="2114026" cy="3103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20919" y="179026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ndale Mono" panose="020B0509000000000004" pitchFamily="49" charset="0"/>
              </a:rPr>
              <a:t>no</a:t>
            </a:r>
          </a:p>
        </p:txBody>
      </p:sp>
      <p:sp>
        <p:nvSpPr>
          <p:cNvPr id="16" name="Bent-Up Arrow 15"/>
          <p:cNvSpPr/>
          <p:nvPr/>
        </p:nvSpPr>
        <p:spPr>
          <a:xfrm rot="5400000">
            <a:off x="-256695" y="2575975"/>
            <a:ext cx="1581800" cy="607990"/>
          </a:xfrm>
          <a:prstGeom prst="ben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30210" y="1912293"/>
            <a:ext cx="607990" cy="17677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02026" y="2236304"/>
            <a:ext cx="2553002" cy="7851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1302026" y="2236304"/>
            <a:ext cx="2415209" cy="685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 descr="Sales Printer Images, Stock Photos &amp; Vectors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2" b="8882"/>
          <a:stretch/>
        </p:blipFill>
        <p:spPr bwMode="auto">
          <a:xfrm>
            <a:off x="4228812" y="3249405"/>
            <a:ext cx="3152489" cy="339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7668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questions are there?</a:t>
            </a:r>
          </a:p>
        </p:txBody>
      </p:sp>
    </p:spTree>
    <p:extLst>
      <p:ext uri="{BB962C8B-B14F-4D97-AF65-F5344CB8AC3E}">
        <p14:creationId xmlns:p14="http://schemas.microsoft.com/office/powerpoint/2010/main" val="18345900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execute if a certain condition is true</a:t>
            </a:r>
          </a:p>
          <a:p>
            <a:r>
              <a:rPr lang="en-US" dirty="0"/>
              <a:t>Can contain multiple conditions</a:t>
            </a:r>
          </a:p>
          <a:p>
            <a:r>
              <a:rPr lang="en-US" dirty="0"/>
              <a:t>Does not repeat unless contained within a loop</a:t>
            </a:r>
          </a:p>
          <a:p>
            <a:r>
              <a:rPr lang="en-US" dirty="0"/>
              <a:t>Examples?</a:t>
            </a:r>
          </a:p>
        </p:txBody>
      </p:sp>
    </p:spTree>
    <p:extLst>
      <p:ext uri="{BB962C8B-B14F-4D97-AF65-F5344CB8AC3E}">
        <p14:creationId xmlns:p14="http://schemas.microsoft.com/office/powerpoint/2010/main" val="625085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 –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3399"/>
                </a:solidFill>
                <a:latin typeface="Andale Mono" panose="020B0509000000000004" pitchFamily="49" charset="0"/>
              </a:rPr>
              <a:t>if </a:t>
            </a:r>
            <a:r>
              <a:rPr lang="en-US" dirty="0">
                <a:latin typeface="Andale Mono" panose="020B0509000000000004" pitchFamily="49" charset="0"/>
              </a:rPr>
              <a:t>it </a:t>
            </a:r>
            <a:r>
              <a:rPr lang="en-US" dirty="0">
                <a:solidFill>
                  <a:srgbClr val="00B050"/>
                </a:solidFill>
                <a:latin typeface="Andale Mono" panose="020B0509000000000004" pitchFamily="49" charset="0"/>
              </a:rPr>
              <a:t>is raining</a:t>
            </a: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bring an umbrella </a:t>
            </a:r>
            <a:r>
              <a:rPr lang="en-US" dirty="0">
                <a:latin typeface="Andale Mono" panose="020B0509000000000004" pitchFamily="49" charset="0"/>
              </a:rPr>
              <a:t>outside</a:t>
            </a:r>
          </a:p>
          <a:p>
            <a:pPr marL="0" indent="0">
              <a:buNone/>
            </a:pPr>
            <a:r>
              <a:rPr lang="en-US" dirty="0">
                <a:solidFill>
                  <a:srgbClr val="FF3399"/>
                </a:solidFill>
                <a:latin typeface="Andale Mono" panose="020B0509000000000004" pitchFamily="49" charset="0"/>
              </a:rPr>
              <a:t>else</a:t>
            </a:r>
            <a:r>
              <a:rPr lang="en-US" dirty="0">
                <a:latin typeface="Andale Mono" panose="020B0509000000000004" pitchFamily="49" charset="0"/>
              </a:rPr>
              <a:t>, </a:t>
            </a: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don’t bring an umbrella</a:t>
            </a:r>
          </a:p>
        </p:txBody>
      </p:sp>
    </p:spTree>
    <p:extLst>
      <p:ext uri="{BB962C8B-B14F-4D97-AF65-F5344CB8AC3E}">
        <p14:creationId xmlns:p14="http://schemas.microsoft.com/office/powerpoint/2010/main" val="22087144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 –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626" y="147775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sz="1800" dirty="0">
                <a:latin typeface="Andale Mono" panose="020B05090000000000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marbles</a:t>
            </a:r>
            <a:r>
              <a:rPr lang="en-US" sz="1800" dirty="0">
                <a:latin typeface="Andale Mono" panose="020B0509000000000004" pitchFamily="49" charset="0"/>
              </a:rPr>
              <a:t> in the </a:t>
            </a:r>
            <a:r>
              <a:rPr lang="en-US" sz="1800" dirty="0">
                <a:solidFill>
                  <a:srgbClr val="00B0F0"/>
                </a:solidFill>
                <a:latin typeface="Andale Mono" panose="020B0509000000000004" pitchFamily="49" charset="0"/>
              </a:rPr>
              <a:t>basket</a:t>
            </a:r>
            <a:r>
              <a:rPr lang="en-US" sz="1800" dirty="0">
                <a:latin typeface="Andale Mono" panose="020B050900000000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if</a:t>
            </a:r>
            <a:r>
              <a:rPr lang="en-US" sz="1800" dirty="0">
                <a:latin typeface="Andale Mono" panose="020B05090000000000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marble is blue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put it in the blue cup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else if </a:t>
            </a:r>
            <a:r>
              <a:rPr lang="en-US" sz="1800" dirty="0">
                <a:solidFill>
                  <a:srgbClr val="00B050"/>
                </a:solidFill>
                <a:latin typeface="Andale Mono" panose="020B0509000000000004" pitchFamily="49" charset="0"/>
              </a:rPr>
              <a:t>marble is red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put it in the red cup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</a:t>
            </a:r>
            <a:r>
              <a:rPr lang="en-US" sz="1800" dirty="0">
                <a:solidFill>
                  <a:srgbClr val="FF3399"/>
                </a:solidFill>
                <a:latin typeface="Andale Mono" panose="020B05090000000000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	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leave it in basket</a:t>
            </a:r>
          </a:p>
        </p:txBody>
      </p:sp>
    </p:spTree>
    <p:extLst>
      <p:ext uri="{BB962C8B-B14F-4D97-AF65-F5344CB8AC3E}">
        <p14:creationId xmlns:p14="http://schemas.microsoft.com/office/powerpoint/2010/main" val="3930781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Grocery shopping example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experience of going grocery shopping</a:t>
            </a:r>
          </a:p>
          <a:p>
            <a:r>
              <a:rPr lang="en-US" dirty="0"/>
              <a:t>You have a list of items going into the store, and you must leave with all of those items in your possession. </a:t>
            </a:r>
          </a:p>
          <a:p>
            <a:r>
              <a:rPr lang="en-US" dirty="0"/>
              <a:t>How would you program this, using loops and if statements?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607" y="4091203"/>
            <a:ext cx="2734812" cy="2371684"/>
          </a:xfrm>
          <a:prstGeom prst="rect">
            <a:avLst/>
          </a:prstGeom>
        </p:spPr>
      </p:pic>
      <p:pic>
        <p:nvPicPr>
          <p:cNvPr id="20482" name="Picture 2" descr="Kroger Reports Fourth Quarter and Full Year 2015 Result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48887">
            <a:off x="1245718" y="4328719"/>
            <a:ext cx="1474760" cy="121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Meijer supports communities, entrepreneurs in several ways at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2778">
            <a:off x="8572492" y="4509098"/>
            <a:ext cx="2240240" cy="85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628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Grocery shopping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Andale Mono" panose="020B0509000000000004" pitchFamily="49" charset="0"/>
              </a:rPr>
              <a:t>items</a:t>
            </a:r>
            <a:r>
              <a:rPr lang="en-US" dirty="0">
                <a:latin typeface="Andale Mono" panose="020B0509000000000004" pitchFamily="49" charset="0"/>
              </a:rPr>
              <a:t> on </a:t>
            </a:r>
            <a:r>
              <a:rPr lang="en-US" dirty="0">
                <a:solidFill>
                  <a:srgbClr val="0070C0"/>
                </a:solidFill>
                <a:latin typeface="Andale Mono" panose="020B0509000000000004" pitchFamily="49" charset="0"/>
              </a:rPr>
              <a:t>grocery list</a:t>
            </a: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	</a:t>
            </a:r>
            <a:r>
              <a:rPr lang="en-US" dirty="0">
                <a:solidFill>
                  <a:srgbClr val="FF3399"/>
                </a:solidFill>
                <a:latin typeface="Andale Mono" panose="020B0509000000000004" pitchFamily="49" charset="0"/>
              </a:rPr>
              <a:t>if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Andale Mono" panose="020B0509000000000004" pitchFamily="49" charset="0"/>
              </a:rPr>
              <a:t>is not in cart</a:t>
            </a: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	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locate item</a:t>
            </a: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	</a:t>
            </a:r>
            <a:r>
              <a:rPr lang="en-US" dirty="0">
                <a:solidFill>
                  <a:srgbClr val="FF3399"/>
                </a:solidFill>
                <a:latin typeface="Andale Mono" panose="020B0509000000000004" pitchFamily="49" charset="0"/>
              </a:rPr>
              <a:t>else</a:t>
            </a: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	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cross off on list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go to checkout</a:t>
            </a:r>
          </a:p>
        </p:txBody>
      </p:sp>
    </p:spTree>
    <p:extLst>
      <p:ext uri="{BB962C8B-B14F-4D97-AF65-F5344CB8AC3E}">
        <p14:creationId xmlns:p14="http://schemas.microsoft.com/office/powerpoint/2010/main" val="34964850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Grocery shopping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3399"/>
                </a:solidFill>
                <a:latin typeface="Andale Mono" panose="020B0509000000000004" pitchFamily="49" charset="0"/>
              </a:rPr>
              <a:t>for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Andale Mono" panose="020B0509000000000004" pitchFamily="49" charset="0"/>
              </a:rPr>
              <a:t>items</a:t>
            </a:r>
            <a:r>
              <a:rPr lang="en-US" dirty="0">
                <a:latin typeface="Andale Mono" panose="020B0509000000000004" pitchFamily="49" charset="0"/>
              </a:rPr>
              <a:t> on </a:t>
            </a:r>
            <a:r>
              <a:rPr lang="en-US" dirty="0">
                <a:solidFill>
                  <a:srgbClr val="0070C0"/>
                </a:solidFill>
                <a:latin typeface="Andale Mono" panose="020B0509000000000004" pitchFamily="49" charset="0"/>
              </a:rPr>
              <a:t>grocery list</a:t>
            </a: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	</a:t>
            </a:r>
            <a:r>
              <a:rPr lang="en-US" dirty="0">
                <a:solidFill>
                  <a:srgbClr val="FF3399"/>
                </a:solidFill>
                <a:latin typeface="Andale Mono" panose="020B0509000000000004" pitchFamily="49" charset="0"/>
              </a:rPr>
              <a:t>while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Andale Mono" panose="020B0509000000000004" pitchFamily="49" charset="0"/>
              </a:rPr>
              <a:t>item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Andale Mono" panose="020B0509000000000004" pitchFamily="49" charset="0"/>
              </a:rPr>
              <a:t>is not in cart</a:t>
            </a: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	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ndale Mono" panose="020B0509000000000004" pitchFamily="49" charset="0"/>
              </a:rPr>
              <a:t>locate item</a:t>
            </a: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Andale Mono" panose="020B0509000000000004" pitchFamily="49" charset="0"/>
              </a:rPr>
              <a:t>go to checkout</a:t>
            </a:r>
          </a:p>
        </p:txBody>
      </p:sp>
    </p:spTree>
    <p:extLst>
      <p:ext uri="{BB962C8B-B14F-4D97-AF65-F5344CB8AC3E}">
        <p14:creationId xmlns:p14="http://schemas.microsoft.com/office/powerpoint/2010/main" val="15401903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questions are there?</a:t>
            </a:r>
          </a:p>
        </p:txBody>
      </p:sp>
    </p:spTree>
    <p:extLst>
      <p:ext uri="{BB962C8B-B14F-4D97-AF65-F5344CB8AC3E}">
        <p14:creationId xmlns:p14="http://schemas.microsoft.com/office/powerpoint/2010/main" val="468697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for the </a:t>
            </a:r>
            <a:r>
              <a:rPr lang="en-US"/>
              <a:t>coding lesson</a:t>
            </a:r>
          </a:p>
        </p:txBody>
      </p:sp>
    </p:spTree>
    <p:extLst>
      <p:ext uri="{BB962C8B-B14F-4D97-AF65-F5344CB8AC3E}">
        <p14:creationId xmlns:p14="http://schemas.microsoft.com/office/powerpoint/2010/main" val="35854571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302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[64,64,72,84,84,86,81,77,70,66,64,72,88,81,82];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zeros([1,length(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)]);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= [1:length(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F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6746639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[64,64,72,84,84,86,81,77,70,66,64,72,88,81,82];</a:t>
            </a:r>
          </a:p>
          <a:p>
            <a:r>
              <a:rPr lang="en-US" sz="24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zeros([1,length(</a:t>
            </a:r>
            <a:r>
              <a:rPr lang="en-US" sz="24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)]);</a:t>
            </a:r>
          </a:p>
          <a:p>
            <a:endParaRPr lang="en-US" sz="2400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x = [1:length(</a:t>
            </a:r>
            <a:r>
              <a:rPr lang="en-US" sz="24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F = </a:t>
            </a:r>
            <a:r>
              <a:rPr lang="en-US" sz="24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8493310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272748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82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zeros([1,length(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)]);</a:t>
            </a: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902352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0326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zeros([1,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length(</a:t>
            </a:r>
            <a:r>
              <a:rPr lang="en-US" sz="2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32592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</p:spTree>
    <p:extLst>
      <p:ext uri="{BB962C8B-B14F-4D97-AF65-F5344CB8AC3E}">
        <p14:creationId xmlns:p14="http://schemas.microsoft.com/office/powerpoint/2010/main" val="275625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zeros(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length(</a:t>
            </a:r>
            <a:r>
              <a:rPr lang="en-US" sz="2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095407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4489" y="1044638"/>
            <a:ext cx="35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8948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zeros(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length(</a:t>
            </a:r>
            <a:r>
              <a:rPr lang="en-US" sz="2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4102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4489" y="1044638"/>
            <a:ext cx="35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08928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818031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4489" y="1044638"/>
            <a:ext cx="35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3596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1728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= [1:length(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F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7285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F = 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1473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F = 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24146" y="2840905"/>
            <a:ext cx="422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“iterate   from   here   to   here” </a:t>
            </a:r>
          </a:p>
        </p:txBody>
      </p:sp>
    </p:spTree>
    <p:extLst>
      <p:ext uri="{BB962C8B-B14F-4D97-AF65-F5344CB8AC3E}">
        <p14:creationId xmlns:p14="http://schemas.microsoft.com/office/powerpoint/2010/main" val="21863275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 = [</a:t>
            </a:r>
            <a:r>
              <a:rPr lang="en-US" sz="24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F = 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24146" y="2840905"/>
            <a:ext cx="422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“iterate   from   </a:t>
            </a:r>
            <a:r>
              <a:rPr lang="en-US" b="1" dirty="0">
                <a:solidFill>
                  <a:schemeClr val="accent4"/>
                </a:solidFill>
              </a:rPr>
              <a:t>one</a:t>
            </a:r>
            <a:r>
              <a:rPr lang="en-US" dirty="0">
                <a:solidFill>
                  <a:schemeClr val="accent1"/>
                </a:solidFill>
              </a:rPr>
              <a:t>   to   here” </a:t>
            </a:r>
          </a:p>
        </p:txBody>
      </p:sp>
      <p:sp>
        <p:nvSpPr>
          <p:cNvPr id="2" name="Arc 1"/>
          <p:cNvSpPr/>
          <p:nvPr/>
        </p:nvSpPr>
        <p:spPr>
          <a:xfrm rot="6701137">
            <a:off x="1624770" y="-3885248"/>
            <a:ext cx="3527380" cy="11251747"/>
          </a:xfrm>
          <a:prstGeom prst="arc">
            <a:avLst>
              <a:gd name="adj1" fmla="val 15836218"/>
              <a:gd name="adj2" fmla="val 631620"/>
            </a:avLst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06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 = [</a:t>
            </a:r>
            <a:r>
              <a:rPr lang="en-US" sz="24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length(</a:t>
            </a:r>
            <a:r>
              <a:rPr lang="en-US" sz="2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F = 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24146" y="2840905"/>
            <a:ext cx="422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“iterate   from   </a:t>
            </a:r>
            <a:r>
              <a:rPr lang="en-US" b="1" dirty="0">
                <a:solidFill>
                  <a:schemeClr val="accent4"/>
                </a:solidFill>
              </a:rPr>
              <a:t>one</a:t>
            </a:r>
            <a:r>
              <a:rPr lang="en-US" dirty="0">
                <a:solidFill>
                  <a:schemeClr val="accent1"/>
                </a:solidFill>
              </a:rPr>
              <a:t>   to  </a:t>
            </a:r>
            <a:r>
              <a:rPr lang="en-US" b="1" dirty="0">
                <a:solidFill>
                  <a:schemeClr val="accent2"/>
                </a:solidFill>
              </a:rPr>
              <a:t>fifteen</a:t>
            </a:r>
            <a:r>
              <a:rPr lang="en-US" dirty="0">
                <a:solidFill>
                  <a:schemeClr val="accent1"/>
                </a:solidFill>
              </a:rPr>
              <a:t>” </a:t>
            </a:r>
          </a:p>
        </p:txBody>
      </p:sp>
      <p:sp>
        <p:nvSpPr>
          <p:cNvPr id="2" name="Arc 1"/>
          <p:cNvSpPr/>
          <p:nvPr/>
        </p:nvSpPr>
        <p:spPr>
          <a:xfrm rot="6701137">
            <a:off x="1624770" y="-3885248"/>
            <a:ext cx="3527380" cy="11251747"/>
          </a:xfrm>
          <a:prstGeom prst="arc">
            <a:avLst>
              <a:gd name="adj1" fmla="val 15836218"/>
              <a:gd name="adj2" fmla="val 631620"/>
            </a:avLst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/>
          <p:cNvSpPr/>
          <p:nvPr/>
        </p:nvSpPr>
        <p:spPr>
          <a:xfrm rot="14898863" flipV="1">
            <a:off x="2677706" y="-1019373"/>
            <a:ext cx="3139706" cy="11074702"/>
          </a:xfrm>
          <a:prstGeom prst="arc">
            <a:avLst>
              <a:gd name="adj1" fmla="val 15947487"/>
              <a:gd name="adj2" fmla="val 19897395"/>
            </a:avLst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</p:spTree>
    <p:extLst>
      <p:ext uri="{BB962C8B-B14F-4D97-AF65-F5344CB8AC3E}">
        <p14:creationId xmlns:p14="http://schemas.microsoft.com/office/powerpoint/2010/main" val="72784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length(</a:t>
            </a:r>
            <a:r>
              <a:rPr lang="en-US" sz="2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F = 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24146" y="2840905"/>
            <a:ext cx="422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“iterate   from   </a:t>
            </a:r>
            <a:r>
              <a:rPr lang="en-US" b="1" dirty="0">
                <a:solidFill>
                  <a:schemeClr val="accent4"/>
                </a:solidFill>
              </a:rPr>
              <a:t>one</a:t>
            </a:r>
            <a:r>
              <a:rPr lang="en-US" dirty="0">
                <a:solidFill>
                  <a:schemeClr val="accent1"/>
                </a:solidFill>
              </a:rPr>
              <a:t>   to </a:t>
            </a:r>
            <a:r>
              <a:rPr lang="en-US" b="1" dirty="0">
                <a:solidFill>
                  <a:schemeClr val="accent2"/>
                </a:solidFill>
              </a:rPr>
              <a:t>fifteen</a:t>
            </a:r>
            <a:r>
              <a:rPr lang="en-US" dirty="0">
                <a:solidFill>
                  <a:schemeClr val="accent1"/>
                </a:solidFill>
              </a:rPr>
              <a:t>”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144" y="675306"/>
            <a:ext cx="66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Andale Mono" panose="020B0509000000000004" pitchFamily="49" charset="0"/>
              </a:rPr>
              <a:t>X=</a:t>
            </a:r>
          </a:p>
        </p:txBody>
      </p:sp>
      <p:sp>
        <p:nvSpPr>
          <p:cNvPr id="6" name="Oval 5"/>
          <p:cNvSpPr/>
          <p:nvPr/>
        </p:nvSpPr>
        <p:spPr>
          <a:xfrm>
            <a:off x="1198180" y="2840905"/>
            <a:ext cx="465083" cy="45112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820917" y="315310"/>
            <a:ext cx="739227" cy="4335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53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81481E-6 L -3.95833E-6 4.81481E-6 C 0.00052 -0.00579 0.00078 -0.01181 0.00183 -0.01736 C 0.00209 -0.01852 0.00235 -0.01968 0.00248 -0.02084 C 0.00274 -0.02223 0.00287 -0.02385 0.00313 -0.02547 C 0.00352 -0.02778 0.00404 -0.02986 0.00443 -0.03218 C 0.00469 -0.03334 0.00443 -0.03542 0.00508 -0.03565 L 0.00703 -0.03681 C 0.01003 -0.04468 0.00821 -0.04283 0.01159 -0.04491 C 0.01459 -0.04861 0.01276 -0.04676 0.01745 -0.04954 L 0.01927 -0.0507 C 0.02058 -0.05023 0.02318 -0.04954 0.02448 -0.04838 C 0.02956 -0.04398 0.02357 -0.04769 0.02839 -0.04491 C 0.02865 -0.04375 0.02852 -0.04236 0.02904 -0.04144 C 0.02956 -0.04051 0.03034 -0.04074 0.03099 -0.04028 C 0.03164 -0.03959 0.0323 -0.03889 0.03295 -0.03797 C 0.03334 -0.03658 0.0336 -0.03473 0.03425 -0.03334 C 0.03464 -0.03241 0.03568 -0.03241 0.0362 -0.03102 C 0.03685 -0.02917 0.03685 -0.02639 0.03737 -0.02431 L 0.03868 -0.01968 C 0.03894 -0.01574 0.03881 -0.01181 0.03933 -0.00811 C 0.03959 -0.00695 0.03985 -0.01042 0.03998 -0.01158 C 0.04024 -0.01389 0.04037 -0.01621 0.04063 -0.01852 C 0.04076 -0.01968 0.04115 -0.02084 0.04128 -0.02199 C 0.04154 -0.02338 0.04167 -0.025 0.04193 -0.02662 C 0.04219 -0.02778 0.04219 -0.02894 0.04258 -0.02986 C 0.0431 -0.03102 0.04388 -0.03148 0.04453 -0.03218 C 0.04623 -0.04098 0.04375 -0.03056 0.04714 -0.03797 C 0.04753 -0.03889 0.0474 -0.04051 0.04779 -0.04144 C 0.04831 -0.0426 0.04896 -0.04306 0.04974 -0.04375 C 0.05065 -0.04468 0.05339 -0.04561 0.0543 -0.04607 C 0.05482 -0.04676 0.05547 -0.04792 0.05612 -0.04838 C 0.05769 -0.04908 0.05925 -0.04908 0.06068 -0.04954 C 0.06133 -0.04977 0.06198 -0.05023 0.06263 -0.0507 C 0.06394 -0.05023 0.06524 -0.05 0.06654 -0.04954 C 0.06784 -0.04885 0.07045 -0.04723 0.07045 -0.04723 C 0.0711 -0.04561 0.07175 -0.04422 0.0724 -0.0426 C 0.07279 -0.04144 0.07305 -0.04005 0.07357 -0.03912 C 0.07422 -0.03843 0.07487 -0.03843 0.07552 -0.03797 C 0.07657 -0.03079 0.07578 -0.03473 0.07878 -0.02662 L 0.07878 -0.02662 C 0.0793 -0.02431 0.07943 -0.02176 0.08008 -0.01968 C 0.08047 -0.01806 0.08099 -0.01667 0.08138 -0.01505 C 0.08243 -0.01042 0.08269 -0.00811 0.08334 -0.00348 L 0.08464 -0.01042 C 0.0849 -0.01158 0.0849 -0.01297 0.08529 -0.01389 C 0.08607 -0.01621 0.08711 -0.01829 0.08789 -0.02084 C 0.08842 -0.02269 0.08959 -0.02732 0.0905 -0.02894 C 0.09102 -0.02986 0.09167 -0.03033 0.09232 -0.03102 C 0.09258 -0.03218 0.09245 -0.0338 0.09297 -0.03449 C 0.09414 -0.03588 0.09688 -0.03681 0.09688 -0.03681 C 0.0974 -0.03797 0.09753 -0.03936 0.09818 -0.04028 C 0.0987 -0.04098 0.09948 -0.04098 0.10013 -0.04144 C 0.10573 -0.04584 0.10013 -0.04213 0.10469 -0.04491 C 0.10795 -0.04422 0.1112 -0.04422 0.11433 -0.0426 C 0.11589 -0.0419 0.11823 -0.03797 0.11823 -0.03797 C 0.11862 -0.03658 0.11901 -0.03496 0.11953 -0.03334 C 0.11993 -0.03218 0.12045 -0.03125 0.12084 -0.02986 C 0.12305 -0.02084 0.12058 -0.025 0.12409 -0.02084 C 0.12422 -0.01806 0.12448 -0.01551 0.12474 -0.01273 C 0.12513 -0.00834 0.12539 -0.00648 0.12605 -0.00232 L 0.12735 -0.01389 C 0.12748 -0.01574 0.12735 -0.01806 0.128 -0.01968 L 0.12917 -0.02315 C 0.13047 -0.02986 0.12891 -0.02361 0.13177 -0.02894 C 0.13607 -0.03658 0.12982 -0.02848 0.13503 -0.03449 C 0.13529 -0.03565 0.13529 -0.03704 0.13568 -0.03797 C 0.13659 -0.04028 0.13907 -0.04352 0.14024 -0.04491 C 0.14427 -0.05 0.14284 -0.04885 0.1461 -0.0507 C 0.14974 -0.05023 0.15339 -0.05023 0.15703 -0.04954 C 0.15769 -0.04931 0.15834 -0.04861 0.15899 -0.04838 C 0.16459 -0.04537 0.15886 -0.04885 0.16355 -0.04607 C 0.16368 -0.04491 0.16368 -0.04352 0.1642 -0.0426 C 0.16732 -0.03681 0.16628 -0.04398 0.16797 -0.03681 C 0.16862 -0.03473 0.16888 -0.03218 0.16927 -0.02986 L 0.16993 -0.02662 C 0.17019 -0.02547 0.17045 -0.02431 0.17058 -0.02315 C 0.17214 -0.01343 0.17149 -0.01783 0.17253 -0.01042 C 0.17318 -0.01158 0.17396 -0.0125 0.17448 -0.01389 C 0.17487 -0.01482 0.17474 -0.01644 0.17513 -0.01736 C 0.17565 -0.01852 0.17644 -0.01898 0.17709 -0.01968 C 0.1793 -0.03172 0.17722 -0.02223 0.17969 -0.02986 C 0.18008 -0.03148 0.18021 -0.03334 0.18099 -0.03449 C 0.18256 -0.0375 0.18464 -0.03936 0.18672 -0.04028 C 0.18776 -0.04074 0.18894 -0.04098 0.18998 -0.04144 C 0.19284 -0.04098 0.19558 -0.04098 0.19844 -0.04028 C 0.19909 -0.04028 0.19987 -0.04005 0.20039 -0.03912 C 0.20547 -0.02986 0.20052 -0.0338 0.20482 -0.03102 C 0.20573 -0.02894 0.2069 -0.02686 0.20743 -0.02431 C 0.20769 -0.02315 0.20769 -0.02176 0.20808 -0.02084 C 0.2086 -0.01968 0.20938 -0.01922 0.21003 -0.01852 C 0.21042 -0.01621 0.21055 -0.01366 0.21133 -0.01158 C 0.21172 -0.01042 0.21224 -0.00949 0.21263 -0.00811 C 0.21524 0.00139 0.21081 -0.01111 0.21459 -0.00116 C 0.2155 -0.00811 0.21498 -0.0044 0.21654 -0.01273 C 0.21667 -0.01389 0.2168 -0.01528 0.21719 -0.01621 C 0.22175 -0.02848 0.21459 -0.00973 0.22032 -0.02315 C 0.22136 -0.02523 0.22227 -0.02755 0.22292 -0.02986 C 0.22344 -0.03148 0.22357 -0.03334 0.22422 -0.03449 C 0.22474 -0.03542 0.22552 -0.03542 0.22618 -0.03565 C 0.22813 -0.03797 0.22839 -0.03866 0.23073 -0.04028 C 0.23138 -0.04074 0.23203 -0.04098 0.23269 -0.04144 C 0.2362 -0.04121 0.2444 -0.04306 0.24948 -0.03912 C 0.25039 -0.03843 0.25118 -0.03773 0.25209 -0.03681 C 0.25417 -0.03102 0.25274 -0.03426 0.25717 -0.02894 L 0.25912 -0.02662 C 0.26042 -0.01968 0.25873 -0.02616 0.26237 -0.02084 C 0.26394 -0.01852 0.26355 -0.0169 0.26433 -0.01389 C 0.26472 -0.01273 0.26524 -0.01158 0.26563 -0.01042 C 0.26862 0.00555 0.2655 -0.00764 0.26888 -0.02547 L 0.27084 -0.03565 C 0.27097 -0.03681 0.27084 -0.03843 0.27149 -0.03912 L 0.27344 -0.04144 C 0.27357 -0.0426 0.27357 -0.04398 0.27409 -0.04491 C 0.27448 -0.04584 0.27539 -0.04561 0.27592 -0.04607 C 0.28151 -0.05023 0.27592 -0.04676 0.28047 -0.04954 C 0.28698 -0.04815 0.28399 -0.04931 0.28959 -0.04607 L 0.29154 -0.04491 C 0.29284 -0.0375 0.29089 -0.04491 0.29467 -0.04028 C 0.29701 -0.0375 0.29519 -0.03681 0.29662 -0.03334 C 0.29714 -0.03241 0.29792 -0.03195 0.29857 -0.03102 C 0.30065 -0.0257 0.29961 -0.02894 0.30118 -0.02084 L 0.30183 -0.01736 C 0.30222 -0.01204 0.30235 0.00393 0.30313 -0.00116 C 0.3043 -0.00996 0.30287 -0.00162 0.30573 -0.01158 C 0.30625 -0.01343 0.30638 -0.01551 0.30703 -0.01736 C 0.30743 -0.01875 0.30834 -0.01945 0.30899 -0.02084 C 0.31511 -0.03565 0.30834 -0.02014 0.31146 -0.02986 C 0.31368 -0.03658 0.31342 -0.03311 0.31602 -0.03912 C 0.3168 -0.04098 0.31732 -0.04306 0.31797 -0.04491 C 0.3194 -0.04838 0.32162 -0.0544 0.32383 -0.05764 C 0.32435 -0.05834 0.325 -0.05926 0.32578 -0.05996 C 0.32631 -0.06042 0.32709 -0.06065 0.32774 -0.06088 C 0.3293 -0.06088 0.33529 -0.06111 0.33802 -0.0588 C 0.33868 -0.05811 0.33933 -0.05718 0.33998 -0.05648 C 0.34024 -0.05533 0.34011 -0.05371 0.34063 -0.05301 C 0.34115 -0.05209 0.34206 -0.05255 0.34258 -0.05186 C 0.3431 -0.05093 0.34349 -0.04954 0.34388 -0.04838 C 0.34453 -0.04653 0.34519 -0.04468 0.34584 -0.0426 C 0.34675 -0.03959 0.34727 -0.03635 0.34831 -0.03334 C 0.35 -0.02894 0.34948 -0.03125 0.35026 -0.02662 C 0.35013 -0.01991 0.34935 -0.01343 0.34961 -0.00695 C 0.34974 -0.00556 0.35039 -0.00949 0.35092 -0.01042 C 0.3517 -0.01158 0.35274 -0.01204 0.35352 -0.01273 C 0.35417 -0.01644 0.35482 -0.02084 0.35677 -0.02315 L 0.35873 -0.02547 L 0.36133 -0.03218 C 0.36172 -0.03334 0.36185 -0.03519 0.36263 -0.03565 L 0.36459 -0.03681 C 0.36524 -0.03773 0.36576 -0.03866 0.36641 -0.03912 C 0.36771 -0.04005 0.37032 -0.04144 0.37032 -0.04144 C 0.37448 -0.04098 0.37878 -0.04213 0.38269 -0.03912 C 0.38347 -0.03843 0.38438 -0.03773 0.38516 -0.03681 C 0.38542 -0.03565 0.38555 -0.03449 0.38581 -0.03334 C 0.38659 -0.03102 0.38802 -0.02917 0.38842 -0.02662 C 0.38868 -0.02547 0.38868 -0.02408 0.38907 -0.02315 C 0.38959 -0.02199 0.39037 -0.02153 0.39102 -0.02084 C 0.39271 -0.01204 0.3905 -0.02269 0.39297 -0.01389 C 0.39362 -0.01158 0.39401 -0.00695 0.39427 -0.00463 C 0.39453 -0.00787 0.3944 -0.01088 0.39493 -0.01389 C 0.39506 -0.01528 0.39584 -0.01621 0.39623 -0.01736 C 0.3987 -0.02616 0.39414 -0.01436 0.39883 -0.02547 C 0.40052 -0.03449 0.39792 -0.02385 0.40144 -0.02986 C 0.4043 -0.03519 0.40105 -0.03357 0.40391 -0.03797 C 0.40495 -0.03959 0.40612 -0.04028 0.40717 -0.04144 C 0.40743 -0.0426 0.40743 -0.04398 0.40782 -0.04491 C 0.40834 -0.04584 0.40912 -0.04561 0.40977 -0.04607 C 0.41537 -0.05023 0.40977 -0.04676 0.41433 -0.04954 C 0.41797 -0.04908 0.42162 -0.04908 0.42526 -0.04838 C 0.42618 -0.04815 0.42709 -0.04792 0.42787 -0.04723 C 0.42865 -0.04676 0.42917 -0.04561 0.42982 -0.04491 C 0.43125 -0.0375 0.42943 -0.04561 0.43243 -0.03797 C 0.43295 -0.03658 0.43321 -0.03496 0.43373 -0.03334 C 0.43412 -0.03218 0.43464 -0.03125 0.43503 -0.02986 C 0.43581 -0.02732 0.43607 -0.02199 0.43633 -0.01968 C 0.43737 -0.00556 0.43633 -0.01366 0.43763 -0.00463 C 0.43802 -0.00579 0.43855 -0.00695 0.43894 -0.00811 C 0.43933 -0.00996 0.43985 -0.01436 0.44011 -0.01621 C 0.44037 -0.01736 0.4405 -0.01852 0.44076 -0.01968 C 0.44115 -0.02084 0.4418 -0.02176 0.44206 -0.02315 C 0.44245 -0.02408 0.44232 -0.0257 0.44271 -0.02662 C 0.44388 -0.02848 0.44662 -0.03102 0.44662 -0.03102 C 0.44766 -0.03681 0.44649 -0.03334 0.44987 -0.03681 C 0.45118 -0.0382 0.45378 -0.04144 0.45378 -0.04144 C 0.45651 -0.04098 0.45938 -0.04121 0.46211 -0.04028 C 0.46289 -0.04005 0.46342 -0.03866 0.46407 -0.03797 C 0.46498 -0.03727 0.46576 -0.03658 0.46667 -0.03565 C 0.46758 -0.03311 0.46836 -0.03056 0.46993 -0.02894 C 0.47045 -0.02824 0.47123 -0.02801 0.47188 -0.02778 C 0.47201 -0.02662 0.47214 -0.02523 0.47253 -0.02431 C 0.47344 -0.02176 0.47578 -0.01898 0.47696 -0.01736 C 0.47865 -0.00903 0.478 -0.01273 0.47891 -0.00579 C 0.48112 -0.01713 0.47761 -0.00116 0.48151 -0.01158 C 0.48203 -0.01297 0.48177 -0.01482 0.48217 -0.01621 C 0.48412 -0.02292 0.48399 -0.02223 0.48672 -0.02547 L 0.48933 -0.03218 C 0.48972 -0.03334 0.48985 -0.03519 0.49063 -0.03565 C 0.49128 -0.03611 0.49193 -0.03635 0.49258 -0.03681 C 0.49323 -0.0375 0.49375 -0.03866 0.4944 -0.03912 C 0.49571 -0.04005 0.49831 -0.04144 0.49831 -0.04144 C 0.50248 -0.04098 0.50651 -0.04121 0.51068 -0.04028 C 0.51211 -0.04005 0.51394 -0.03496 0.51446 -0.03334 C 0.51784 -0.025 0.51563 -0.02824 0.51901 -0.02431 L 0.52097 -0.01389 L 0.52162 -0.01042 L 0.52227 -0.00695 C 0.52253 -0.00811 0.52253 -0.00949 0.52292 -0.01042 C 0.52344 -0.01158 0.52448 -0.01158 0.52487 -0.01273 C 0.52552 -0.01482 0.52539 -0.0176 0.52618 -0.01968 C 0.52657 -0.02084 0.52709 -0.02176 0.52748 -0.02315 C 0.52774 -0.02408 0.52761 -0.0257 0.52813 -0.02662 C 0.52852 -0.02732 0.52943 -0.02732 0.53008 -0.02778 C 0.53256 -0.03449 0.53164 -0.03426 0.53516 -0.03681 C 0.53646 -0.03773 0.53907 -0.03912 0.53907 -0.03912 C 0.54506 -0.0382 0.54519 -0.03889 0.54935 -0.03681 C 0.55013 -0.03658 0.55078 -0.03635 0.55131 -0.03565 C 0.55808 -0.02917 0.55274 -0.03264 0.55717 -0.02986 C 0.55808 -0.02778 0.55925 -0.0257 0.55977 -0.02315 C 0.56081 -0.0176 0.56016 -0.02084 0.56172 -0.01389 C 0.56185 -0.0088 0.56159 -0.00371 0.56237 0.00115 C 0.56276 0.00324 0.56263 -0.00348 0.56302 -0.00579 C 0.56302 -0.00579 0.56459 -0.01436 0.56498 -0.01621 C 0.56511 -0.01736 0.56498 -0.01898 0.56563 -0.01968 L 0.56745 -0.02199 C 0.56823 -0.02547 0.56888 -0.0301 0.57071 -0.03218 L 0.57461 -0.03681 C 0.575 -0.03797 0.57526 -0.03936 0.57592 -0.04028 C 0.57644 -0.04098 0.57722 -0.04098 0.57787 -0.04144 C 0.58334 -0.0463 0.57409 -0.04283 0.58685 -0.04491 C 0.59011 -0.04422 0.59336 -0.04375 0.59662 -0.0426 C 0.59987 -0.04144 0.60026 -0.03681 0.60313 -0.03334 L 0.60495 -0.03102 C 0.60573 -0.02755 0.60638 -0.02315 0.60821 -0.02084 L 0.61016 -0.01852 C 0.61042 -0.01667 0.61055 -0.01459 0.61081 -0.01273 C 0.61133 -0.00949 0.61198 -0.00834 0.61211 -0.00463 C 0.61224 -0.00232 0.61211 4.81481E-6 0.61211 0.00231 " pathEditMode="relative" ptsTypes="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4" dur="1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length(</a:t>
            </a:r>
            <a:r>
              <a:rPr lang="en-US" sz="2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 = </a:t>
            </a:r>
            <a:r>
              <a:rPr lang="en-US" sz="24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“iterate   from   </a:t>
            </a:r>
            <a:r>
              <a:rPr lang="en-US" sz="1400" b="1" dirty="0">
                <a:solidFill>
                  <a:schemeClr val="accent4"/>
                </a:solidFill>
              </a:rPr>
              <a:t>one</a:t>
            </a:r>
            <a:r>
              <a:rPr lang="en-US" sz="1400" dirty="0">
                <a:solidFill>
                  <a:schemeClr val="accent1"/>
                </a:solidFill>
              </a:rPr>
              <a:t>   to </a:t>
            </a:r>
            <a:r>
              <a:rPr lang="en-US" sz="1400" b="1" dirty="0">
                <a:solidFill>
                  <a:schemeClr val="accent2"/>
                </a:solidFill>
              </a:rPr>
              <a:t>fifteen</a:t>
            </a:r>
            <a:r>
              <a:rPr lang="en-US" sz="1400" dirty="0">
                <a:solidFill>
                  <a:schemeClr val="accent1"/>
                </a:solidFill>
              </a:rPr>
              <a:t>”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544" y="664812"/>
            <a:ext cx="66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Andale Mono" panose="020B0509000000000004" pitchFamily="49" charset="0"/>
              </a:rPr>
              <a:t>X=</a:t>
            </a:r>
          </a:p>
        </p:txBody>
      </p:sp>
    </p:spTree>
    <p:extLst>
      <p:ext uri="{BB962C8B-B14F-4D97-AF65-F5344CB8AC3E}">
        <p14:creationId xmlns:p14="http://schemas.microsoft.com/office/powerpoint/2010/main" val="7722465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544" y="664812"/>
            <a:ext cx="66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ndale Mono" panose="020B0509000000000004" pitchFamily="49" charset="0"/>
              </a:rPr>
              <a:t>X=</a:t>
            </a:r>
          </a:p>
        </p:txBody>
      </p:sp>
    </p:spTree>
    <p:extLst>
      <p:ext uri="{BB962C8B-B14F-4D97-AF65-F5344CB8AC3E}">
        <p14:creationId xmlns:p14="http://schemas.microsoft.com/office/powerpoint/2010/main" val="10885073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b="1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544" y="664812"/>
            <a:ext cx="66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ndale Mono" panose="020B0509000000000004" pitchFamily="49" charset="0"/>
              </a:rPr>
              <a:t>X=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05F91-95CF-4CEE-AE5A-D04329E40F9F}"/>
              </a:ext>
            </a:extLst>
          </p:cNvPr>
          <p:cNvSpPr txBox="1"/>
          <p:nvPr/>
        </p:nvSpPr>
        <p:spPr>
          <a:xfrm>
            <a:off x="4440621" y="3608389"/>
            <a:ext cx="624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>
                <a:solidFill>
                  <a:srgbClr val="FF3399"/>
                </a:solidFill>
              </a:rPr>
              <a:t>F</a:t>
            </a:r>
            <a:r>
              <a:rPr lang="en-US" dirty="0"/>
              <a:t> equals the value of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/>
              <a:t>at index number    </a:t>
            </a:r>
            <a:r>
              <a:rPr lang="en-US" dirty="0">
                <a:latin typeface="Andale Mono" panose="020B0509000000000004" pitchFamily="49" charset="0"/>
              </a:rPr>
              <a:t>x</a:t>
            </a:r>
            <a:r>
              <a:rPr lang="en-US" dirty="0"/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2651503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b="1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544" y="664812"/>
            <a:ext cx="66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ndale Mono" panose="020B0509000000000004" pitchFamily="49" charset="0"/>
              </a:rPr>
              <a:t>X=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1954925" y="1383947"/>
            <a:ext cx="5131675" cy="222444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5A997D-384A-48E4-BA17-495F6553B538}"/>
              </a:ext>
            </a:extLst>
          </p:cNvPr>
          <p:cNvSpPr txBox="1"/>
          <p:nvPr/>
        </p:nvSpPr>
        <p:spPr>
          <a:xfrm>
            <a:off x="4440621" y="3608389"/>
            <a:ext cx="624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>
                <a:solidFill>
                  <a:srgbClr val="FF3399"/>
                </a:solidFill>
              </a:rPr>
              <a:t>F</a:t>
            </a:r>
            <a:r>
              <a:rPr lang="en-US" dirty="0"/>
              <a:t> equals </a:t>
            </a:r>
            <a:r>
              <a:rPr lang="en-US" dirty="0">
                <a:solidFill>
                  <a:schemeClr val="accent4"/>
                </a:solidFill>
              </a:rPr>
              <a:t>the value of  </a:t>
            </a:r>
            <a:r>
              <a:rPr lang="en-US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/>
              <a:t>at index number    </a:t>
            </a:r>
            <a:r>
              <a:rPr lang="en-US" dirty="0">
                <a:latin typeface="Andale Mono" panose="020B0509000000000004" pitchFamily="49" charset="0"/>
              </a:rPr>
              <a:t>x</a:t>
            </a:r>
            <a:r>
              <a:rPr lang="en-US" dirty="0"/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11325505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95482" y="738368"/>
            <a:ext cx="252248" cy="228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98028" y="2951614"/>
            <a:ext cx="252248" cy="228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87678" y="3681664"/>
            <a:ext cx="252248" cy="228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538138" y="3678755"/>
            <a:ext cx="252248" cy="228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544" y="664812"/>
            <a:ext cx="66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ndale Mono" panose="020B0509000000000004" pitchFamily="49" charset="0"/>
              </a:rPr>
              <a:t>X=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0621" y="3608389"/>
            <a:ext cx="624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>
                <a:solidFill>
                  <a:srgbClr val="FF3399"/>
                </a:solidFill>
              </a:rPr>
              <a:t>F</a:t>
            </a:r>
            <a:r>
              <a:rPr lang="en-US" dirty="0"/>
              <a:t> equals </a:t>
            </a:r>
            <a:r>
              <a:rPr lang="en-US" dirty="0">
                <a:solidFill>
                  <a:schemeClr val="accent4"/>
                </a:solidFill>
              </a:rPr>
              <a:t>the value of  </a:t>
            </a:r>
            <a:r>
              <a:rPr lang="en-US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/>
              <a:t>at index number    </a:t>
            </a:r>
            <a:r>
              <a:rPr lang="en-US" dirty="0">
                <a:latin typeface="Andale Mono" panose="020B0509000000000004" pitchFamily="49" charset="0"/>
              </a:rPr>
              <a:t>x</a:t>
            </a:r>
            <a:r>
              <a:rPr lang="en-US" dirty="0"/>
              <a:t>”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1954925" y="1383947"/>
            <a:ext cx="5131675" cy="222444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3924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560144" y="1013106"/>
            <a:ext cx="529897" cy="370840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98028" y="2951614"/>
            <a:ext cx="252248" cy="228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87678" y="3681664"/>
            <a:ext cx="252248" cy="228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538138" y="3678755"/>
            <a:ext cx="252248" cy="228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04494" y="977462"/>
            <a:ext cx="112802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338552" y="685418"/>
            <a:ext cx="663904" cy="369332"/>
            <a:chOff x="2647730" y="403227"/>
            <a:chExt cx="663904" cy="369332"/>
          </a:xfrm>
        </p:grpSpPr>
        <p:sp>
          <p:nvSpPr>
            <p:cNvPr id="14" name="Rectangle 13"/>
            <p:cNvSpPr/>
            <p:nvPr/>
          </p:nvSpPr>
          <p:spPr>
            <a:xfrm>
              <a:off x="2701157" y="472963"/>
              <a:ext cx="252248" cy="228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647730" y="403227"/>
              <a:ext cx="663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ndale Mono" panose="020B0509000000000004" pitchFamily="49" charset="0"/>
                </a:rPr>
                <a:t>X=</a:t>
              </a:r>
            </a:p>
          </p:txBody>
        </p:sp>
      </p:grpSp>
      <p:cxnSp>
        <p:nvCxnSpPr>
          <p:cNvPr id="6" name="Straight Arrow Connector 5"/>
          <p:cNvCxnSpPr/>
          <p:nvPr/>
        </p:nvCxnSpPr>
        <p:spPr>
          <a:xfrm flipH="1" flipV="1">
            <a:off x="1954925" y="1383947"/>
            <a:ext cx="5131675" cy="222444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B7736E6-7D96-41B6-B1B5-E2933B90235C}"/>
              </a:ext>
            </a:extLst>
          </p:cNvPr>
          <p:cNvSpPr txBox="1"/>
          <p:nvPr/>
        </p:nvSpPr>
        <p:spPr>
          <a:xfrm>
            <a:off x="4440621" y="3608389"/>
            <a:ext cx="624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>
                <a:solidFill>
                  <a:srgbClr val="FF3399"/>
                </a:solidFill>
              </a:rPr>
              <a:t>F</a:t>
            </a:r>
            <a:r>
              <a:rPr lang="en-US" dirty="0"/>
              <a:t> equals </a:t>
            </a:r>
            <a:r>
              <a:rPr lang="en-US" dirty="0">
                <a:solidFill>
                  <a:schemeClr val="accent4"/>
                </a:solidFill>
              </a:rPr>
              <a:t>the value of  </a:t>
            </a:r>
            <a:r>
              <a:rPr lang="en-US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/>
              <a:t>at index number    </a:t>
            </a:r>
            <a:r>
              <a:rPr lang="en-US" dirty="0">
                <a:latin typeface="Andale Mono" panose="020B0509000000000004" pitchFamily="49" charset="0"/>
              </a:rPr>
              <a:t>x</a:t>
            </a:r>
            <a:r>
              <a:rPr lang="en-US" dirty="0"/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126281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0.00579 L 0.63698 -0.00069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849" y="25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48148E-6 L 0.62305 -0.00232 " pathEditMode="relative" rAng="0" ptsTypes="AA">
                                      <p:cBhvr>
                                        <p:cTn id="8" dur="1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46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560144" y="1013106"/>
            <a:ext cx="529897" cy="370840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98028" y="2951614"/>
            <a:ext cx="252248" cy="228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87678" y="3681664"/>
            <a:ext cx="252248" cy="228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201510" y="3455294"/>
            <a:ext cx="173421" cy="1499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36015"/>
              </p:ext>
            </p:extLst>
          </p:nvPr>
        </p:nvGraphicFramePr>
        <p:xfrm>
          <a:off x="2560145" y="1013106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338552" y="685418"/>
            <a:ext cx="663904" cy="369332"/>
            <a:chOff x="2647730" y="403227"/>
            <a:chExt cx="663904" cy="369332"/>
          </a:xfrm>
        </p:grpSpPr>
        <p:sp>
          <p:nvSpPr>
            <p:cNvPr id="14" name="Rectangle 13"/>
            <p:cNvSpPr/>
            <p:nvPr/>
          </p:nvSpPr>
          <p:spPr>
            <a:xfrm>
              <a:off x="2701157" y="472963"/>
              <a:ext cx="252248" cy="228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647730" y="403227"/>
              <a:ext cx="663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ndale Mono" panose="020B0509000000000004" pitchFamily="49" charset="0"/>
                </a:rPr>
                <a:t>X=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“</a:t>
            </a:r>
            <a:r>
              <a:rPr lang="en-US" sz="1200" dirty="0">
                <a:solidFill>
                  <a:srgbClr val="FF3399"/>
                </a:solidFill>
              </a:rPr>
              <a:t>F</a:t>
            </a:r>
            <a:r>
              <a:rPr lang="en-US" sz="1200" dirty="0"/>
              <a:t> equals </a:t>
            </a:r>
            <a:r>
              <a:rPr lang="en-US" sz="1200" dirty="0">
                <a:solidFill>
                  <a:schemeClr val="accent4"/>
                </a:solidFill>
              </a:rPr>
              <a:t>the value of </a:t>
            </a:r>
            <a:r>
              <a:rPr lang="en-US" sz="1200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12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/>
              <a:t>at index number    </a:t>
            </a:r>
            <a:r>
              <a:rPr lang="en-US" sz="1200" dirty="0">
                <a:latin typeface="Andale Mono" panose="020B0509000000000004" pitchFamily="49" charset="0"/>
              </a:rPr>
              <a:t>x</a:t>
            </a:r>
            <a:r>
              <a:rPr lang="en-US" sz="1200" dirty="0"/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32376507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14101549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1800250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3263" y="4333603"/>
            <a:ext cx="624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algebra: “C equals the F value in </a:t>
            </a:r>
            <a:r>
              <a:rPr lang="en-US" dirty="0" err="1"/>
              <a:t>celsius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8371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3263" y="4333603"/>
            <a:ext cx="624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algebra: “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</a:t>
            </a:r>
            <a:r>
              <a:rPr lang="en-US" dirty="0"/>
              <a:t> equals the F value in </a:t>
            </a:r>
            <a:r>
              <a:rPr lang="en-US" dirty="0" err="1"/>
              <a:t>celsius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98271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((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3263" y="4333603"/>
            <a:ext cx="624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algebra: “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</a:t>
            </a:r>
            <a:r>
              <a:rPr lang="en-US" dirty="0"/>
              <a:t> equals the </a:t>
            </a:r>
            <a:r>
              <a:rPr lang="en-US" dirty="0">
                <a:solidFill>
                  <a:schemeClr val="accent4"/>
                </a:solidFill>
              </a:rPr>
              <a:t>F</a:t>
            </a:r>
            <a:r>
              <a:rPr lang="en-US" dirty="0"/>
              <a:t> value in </a:t>
            </a:r>
            <a:r>
              <a:rPr lang="en-US" dirty="0" err="1"/>
              <a:t>celsius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55569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- 32)*5) /9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3263" y="4333603"/>
            <a:ext cx="624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algebra: “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</a:t>
            </a:r>
            <a:r>
              <a:rPr lang="en-US" dirty="0"/>
              <a:t> equals the </a:t>
            </a:r>
            <a:r>
              <a:rPr lang="en-US" dirty="0">
                <a:solidFill>
                  <a:schemeClr val="accent4"/>
                </a:solidFill>
              </a:rPr>
              <a:t>F</a:t>
            </a:r>
            <a:r>
              <a:rPr lang="en-US" dirty="0"/>
              <a:t> value </a:t>
            </a:r>
            <a:r>
              <a:rPr lang="en-US" dirty="0">
                <a:solidFill>
                  <a:schemeClr val="accent6"/>
                </a:solidFill>
              </a:rPr>
              <a:t>in </a:t>
            </a:r>
            <a:r>
              <a:rPr lang="en-US" dirty="0" err="1">
                <a:solidFill>
                  <a:schemeClr val="accent6"/>
                </a:solidFill>
              </a:rPr>
              <a:t>celsius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10404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- 32)*5) /9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8918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basic algebra: “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</a:t>
            </a:r>
            <a:r>
              <a:rPr lang="en-US" sz="1200" dirty="0"/>
              <a:t> equals the </a:t>
            </a:r>
            <a:r>
              <a:rPr lang="en-US" sz="1200" dirty="0">
                <a:solidFill>
                  <a:schemeClr val="accent4"/>
                </a:solidFill>
              </a:rPr>
              <a:t>F</a:t>
            </a:r>
            <a:r>
              <a:rPr lang="en-US" sz="1200" dirty="0"/>
              <a:t> value </a:t>
            </a:r>
            <a:r>
              <a:rPr lang="en-US" sz="1200" dirty="0">
                <a:solidFill>
                  <a:schemeClr val="accent6"/>
                </a:solidFill>
              </a:rPr>
              <a:t>in </a:t>
            </a:r>
            <a:r>
              <a:rPr lang="en-US" sz="1200" dirty="0" err="1">
                <a:solidFill>
                  <a:schemeClr val="accent6"/>
                </a:solidFill>
              </a:rPr>
              <a:t>celsius</a:t>
            </a:r>
            <a:r>
              <a:rPr lang="en-US" sz="1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83570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4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79807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064107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1242" y="5104291"/>
            <a:ext cx="652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“assign C (</a:t>
            </a:r>
            <a:r>
              <a:rPr lang="en-US" dirty="0" err="1"/>
              <a:t>celsius</a:t>
            </a:r>
            <a:r>
              <a:rPr lang="en-US" dirty="0"/>
              <a:t> temp) to  be stored in </a:t>
            </a:r>
            <a:r>
              <a:rPr lang="en-US" dirty="0" err="1"/>
              <a:t>temps_c</a:t>
            </a:r>
            <a:r>
              <a:rPr lang="en-US" dirty="0"/>
              <a:t> at index number x”</a:t>
            </a:r>
          </a:p>
        </p:txBody>
      </p:sp>
    </p:spTree>
    <p:extLst>
      <p:ext uri="{BB962C8B-B14F-4D97-AF65-F5344CB8AC3E}">
        <p14:creationId xmlns:p14="http://schemas.microsoft.com/office/powerpoint/2010/main" val="41360005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1242" y="5104291"/>
            <a:ext cx="652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“assign </a:t>
            </a:r>
            <a:r>
              <a:rPr lang="en-US" dirty="0">
                <a:solidFill>
                  <a:schemeClr val="accent4"/>
                </a:solidFill>
              </a:rPr>
              <a:t>C </a:t>
            </a:r>
            <a:r>
              <a:rPr lang="en-US" dirty="0"/>
              <a:t>(</a:t>
            </a:r>
            <a:r>
              <a:rPr lang="en-US" dirty="0" err="1"/>
              <a:t>celsius</a:t>
            </a:r>
            <a:r>
              <a:rPr lang="en-US" dirty="0"/>
              <a:t> temp) to  be stored in </a:t>
            </a:r>
            <a:r>
              <a:rPr lang="en-US" dirty="0" err="1"/>
              <a:t>temps_c</a:t>
            </a:r>
            <a:r>
              <a:rPr lang="en-US" dirty="0"/>
              <a:t> at index number x”</a:t>
            </a:r>
          </a:p>
        </p:txBody>
      </p:sp>
    </p:spTree>
    <p:extLst>
      <p:ext uri="{BB962C8B-B14F-4D97-AF65-F5344CB8AC3E}">
        <p14:creationId xmlns:p14="http://schemas.microsoft.com/office/powerpoint/2010/main" val="7799784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1242" y="5104291"/>
            <a:ext cx="652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“assign </a:t>
            </a:r>
            <a:r>
              <a:rPr lang="en-US" dirty="0">
                <a:solidFill>
                  <a:schemeClr val="accent4"/>
                </a:solidFill>
              </a:rPr>
              <a:t>C </a:t>
            </a:r>
            <a:r>
              <a:rPr lang="en-US" dirty="0"/>
              <a:t>(</a:t>
            </a:r>
            <a:r>
              <a:rPr lang="en-US" dirty="0" err="1"/>
              <a:t>celsius</a:t>
            </a:r>
            <a:r>
              <a:rPr lang="en-US" dirty="0"/>
              <a:t> temp) to  be </a:t>
            </a:r>
            <a:r>
              <a:rPr lang="en-US" dirty="0">
                <a:solidFill>
                  <a:srgbClr val="FF3399"/>
                </a:solidFill>
              </a:rPr>
              <a:t>stored in </a:t>
            </a:r>
            <a:r>
              <a:rPr lang="en-US" dirty="0" err="1">
                <a:solidFill>
                  <a:srgbClr val="FF3399"/>
                </a:solidFill>
              </a:rPr>
              <a:t>temps_c</a:t>
            </a:r>
            <a:r>
              <a:rPr lang="en-US" dirty="0">
                <a:solidFill>
                  <a:srgbClr val="FF3399"/>
                </a:solidFill>
              </a:rPr>
              <a:t> </a:t>
            </a:r>
            <a:r>
              <a:rPr lang="en-US" dirty="0"/>
              <a:t>at index number x”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40727A-18FB-7F39-A3C6-8EEB1A6952DE}"/>
              </a:ext>
            </a:extLst>
          </p:cNvPr>
          <p:cNvCxnSpPr/>
          <p:nvPr/>
        </p:nvCxnSpPr>
        <p:spPr>
          <a:xfrm flipH="1" flipV="1">
            <a:off x="1859797" y="1791554"/>
            <a:ext cx="6338806" cy="3312737"/>
          </a:xfrm>
          <a:prstGeom prst="straightConnector1">
            <a:avLst/>
          </a:prstGeom>
          <a:ln w="7620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0339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1242" y="5104291"/>
            <a:ext cx="652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“assign </a:t>
            </a:r>
            <a:r>
              <a:rPr lang="en-US" dirty="0">
                <a:solidFill>
                  <a:schemeClr val="accent4"/>
                </a:solidFill>
              </a:rPr>
              <a:t>C </a:t>
            </a:r>
            <a:r>
              <a:rPr lang="en-US" dirty="0"/>
              <a:t>(</a:t>
            </a:r>
            <a:r>
              <a:rPr lang="en-US" dirty="0" err="1"/>
              <a:t>celsius</a:t>
            </a:r>
            <a:r>
              <a:rPr lang="en-US" dirty="0"/>
              <a:t> temp) to  be </a:t>
            </a:r>
            <a:r>
              <a:rPr lang="en-US" dirty="0">
                <a:solidFill>
                  <a:srgbClr val="FF3399"/>
                </a:solidFill>
              </a:rPr>
              <a:t>stored in </a:t>
            </a:r>
            <a:r>
              <a:rPr lang="en-US" dirty="0" err="1">
                <a:solidFill>
                  <a:srgbClr val="FF3399"/>
                </a:solidFill>
              </a:rPr>
              <a:t>temps_c</a:t>
            </a:r>
            <a:r>
              <a:rPr lang="en-US" dirty="0">
                <a:solidFill>
                  <a:srgbClr val="FF3399"/>
                </a:solidFill>
              </a:rPr>
              <a:t> </a:t>
            </a:r>
            <a:r>
              <a:rPr lang="en-US" dirty="0"/>
              <a:t>at index number x”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11225048" y="5210503"/>
            <a:ext cx="204952" cy="189187"/>
          </a:xfrm>
          <a:prstGeom prst="rect">
            <a:avLst/>
          </a:prstGeom>
          <a:solidFill>
            <a:srgbClr val="70AD47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777358" y="5174077"/>
            <a:ext cx="204952" cy="189187"/>
          </a:xfrm>
          <a:prstGeom prst="rect">
            <a:avLst/>
          </a:prstGeom>
          <a:solidFill>
            <a:srgbClr val="70AD47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C074C1-58A5-92BA-0B6F-048C0808CA92}"/>
              </a:ext>
            </a:extLst>
          </p:cNvPr>
          <p:cNvCxnSpPr/>
          <p:nvPr/>
        </p:nvCxnSpPr>
        <p:spPr>
          <a:xfrm flipH="1" flipV="1">
            <a:off x="1859797" y="1791554"/>
            <a:ext cx="6338806" cy="3312737"/>
          </a:xfrm>
          <a:prstGeom prst="straightConnector1">
            <a:avLst/>
          </a:prstGeom>
          <a:ln w="7620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86046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1242" y="5104291"/>
            <a:ext cx="652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“assign </a:t>
            </a:r>
            <a:r>
              <a:rPr lang="en-US" dirty="0">
                <a:solidFill>
                  <a:schemeClr val="accent4"/>
                </a:solidFill>
              </a:rPr>
              <a:t>C </a:t>
            </a:r>
            <a:r>
              <a:rPr lang="en-US" dirty="0"/>
              <a:t>(</a:t>
            </a:r>
            <a:r>
              <a:rPr lang="en-US" dirty="0" err="1"/>
              <a:t>celsius</a:t>
            </a:r>
            <a:r>
              <a:rPr lang="en-US" dirty="0"/>
              <a:t> temp) to  be </a:t>
            </a:r>
            <a:r>
              <a:rPr lang="en-US" dirty="0">
                <a:solidFill>
                  <a:srgbClr val="FF3399"/>
                </a:solidFill>
              </a:rPr>
              <a:t>stored in </a:t>
            </a:r>
            <a:r>
              <a:rPr lang="en-US" dirty="0" err="1">
                <a:solidFill>
                  <a:srgbClr val="FF3399"/>
                </a:solidFill>
              </a:rPr>
              <a:t>temps_c</a:t>
            </a:r>
            <a:r>
              <a:rPr lang="en-US" dirty="0">
                <a:solidFill>
                  <a:srgbClr val="FF3399"/>
                </a:solidFill>
              </a:rPr>
              <a:t> </a:t>
            </a:r>
            <a:r>
              <a:rPr lang="en-US" dirty="0"/>
              <a:t>at index number x”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11225048" y="5210503"/>
            <a:ext cx="204952" cy="189187"/>
          </a:xfrm>
          <a:prstGeom prst="rect">
            <a:avLst/>
          </a:prstGeom>
          <a:solidFill>
            <a:srgbClr val="70AD47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777358" y="5174077"/>
            <a:ext cx="204952" cy="189187"/>
          </a:xfrm>
          <a:prstGeom prst="rect">
            <a:avLst/>
          </a:prstGeom>
          <a:solidFill>
            <a:srgbClr val="70AD47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560144" y="675306"/>
            <a:ext cx="66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Andale Mono" panose="020B0509000000000004" pitchFamily="49" charset="0"/>
              </a:rPr>
              <a:t>X=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906986" y="1860331"/>
            <a:ext cx="0" cy="478355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84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81481E-6 L -3.95833E-6 4.81481E-6 C 0.00052 -0.00579 0.00078 -0.01181 0.00183 -0.01736 C 0.00209 -0.01852 0.00235 -0.01968 0.00248 -0.02084 C 0.00274 -0.02223 0.00287 -0.02385 0.00313 -0.02547 C 0.00352 -0.02778 0.00404 -0.02986 0.00443 -0.03218 C 0.00469 -0.03334 0.00443 -0.03542 0.00508 -0.03565 L 0.00703 -0.03681 C 0.01003 -0.04468 0.00821 -0.04283 0.01159 -0.04491 C 0.01459 -0.04861 0.01276 -0.04676 0.01745 -0.04954 L 0.01927 -0.0507 C 0.02058 -0.05023 0.02318 -0.04954 0.02448 -0.04838 C 0.02956 -0.04398 0.02357 -0.04769 0.02839 -0.04491 C 0.02865 -0.04375 0.02852 -0.04236 0.02904 -0.04144 C 0.02956 -0.04051 0.03034 -0.04074 0.03099 -0.04028 C 0.03164 -0.03959 0.0323 -0.03889 0.03295 -0.03797 C 0.03334 -0.03658 0.0336 -0.03473 0.03425 -0.03334 C 0.03464 -0.03241 0.03568 -0.03241 0.0362 -0.03102 C 0.03685 -0.02917 0.03685 -0.02639 0.03737 -0.02431 L 0.03868 -0.01968 C 0.03894 -0.01574 0.03881 -0.01181 0.03933 -0.00811 C 0.03959 -0.00695 0.03985 -0.01042 0.03998 -0.01158 C 0.04024 -0.01389 0.04037 -0.01621 0.04063 -0.01852 C 0.04076 -0.01968 0.04115 -0.02084 0.04128 -0.02199 C 0.04154 -0.02338 0.04167 -0.025 0.04193 -0.02662 C 0.04219 -0.02778 0.04219 -0.02894 0.04258 -0.02986 C 0.0431 -0.03102 0.04388 -0.03148 0.04453 -0.03218 C 0.04623 -0.04098 0.04375 -0.03056 0.04714 -0.03797 C 0.04753 -0.03889 0.0474 -0.04051 0.04779 -0.04144 C 0.04831 -0.0426 0.04896 -0.04306 0.04974 -0.04375 C 0.05065 -0.04468 0.05339 -0.04561 0.0543 -0.04607 C 0.05482 -0.04676 0.05547 -0.04792 0.05612 -0.04838 C 0.05769 -0.04908 0.05925 -0.04908 0.06068 -0.04954 C 0.06133 -0.04977 0.06198 -0.05023 0.06263 -0.0507 C 0.06394 -0.05023 0.06524 -0.05 0.06654 -0.04954 C 0.06784 -0.04885 0.07045 -0.04723 0.07045 -0.04723 C 0.0711 -0.04561 0.07175 -0.04422 0.0724 -0.0426 C 0.07279 -0.04144 0.07305 -0.04005 0.07357 -0.03912 C 0.07422 -0.03843 0.07487 -0.03843 0.07552 -0.03797 C 0.07657 -0.03079 0.07578 -0.03473 0.07878 -0.02662 L 0.07878 -0.02662 C 0.0793 -0.02431 0.07943 -0.02176 0.08008 -0.01968 C 0.08047 -0.01806 0.08099 -0.01667 0.08138 -0.01505 C 0.08243 -0.01042 0.08269 -0.00811 0.08334 -0.00348 L 0.08464 -0.01042 C 0.0849 -0.01158 0.0849 -0.01297 0.08529 -0.01389 C 0.08607 -0.01621 0.08711 -0.01829 0.08789 -0.02084 C 0.08842 -0.02269 0.08959 -0.02732 0.0905 -0.02894 C 0.09102 -0.02986 0.09167 -0.03033 0.09232 -0.03102 C 0.09258 -0.03218 0.09245 -0.0338 0.09297 -0.03449 C 0.09414 -0.03588 0.09688 -0.03681 0.09688 -0.03681 C 0.0974 -0.03797 0.09753 -0.03936 0.09818 -0.04028 C 0.0987 -0.04098 0.09948 -0.04098 0.10013 -0.04144 C 0.10573 -0.04584 0.10013 -0.04213 0.10469 -0.04491 C 0.10795 -0.04422 0.1112 -0.04422 0.11433 -0.0426 C 0.11589 -0.0419 0.11823 -0.03797 0.11823 -0.03797 C 0.11862 -0.03658 0.11901 -0.03496 0.11953 -0.03334 C 0.11993 -0.03218 0.12045 -0.03125 0.12084 -0.02986 C 0.12305 -0.02084 0.12058 -0.025 0.12409 -0.02084 C 0.12422 -0.01806 0.12448 -0.01551 0.12474 -0.01273 C 0.12513 -0.00834 0.12539 -0.00648 0.12605 -0.00232 L 0.12735 -0.01389 C 0.12748 -0.01574 0.12735 -0.01806 0.128 -0.01968 L 0.12917 -0.02315 C 0.13047 -0.02986 0.12891 -0.02361 0.13177 -0.02894 C 0.13607 -0.03658 0.12982 -0.02848 0.13503 -0.03449 C 0.13529 -0.03565 0.13529 -0.03704 0.13568 -0.03797 C 0.13659 -0.04028 0.13907 -0.04352 0.14024 -0.04491 C 0.14427 -0.05 0.14284 -0.04885 0.1461 -0.0507 C 0.14974 -0.05023 0.15339 -0.05023 0.15703 -0.04954 C 0.15769 -0.04931 0.15834 -0.04861 0.15899 -0.04838 C 0.16459 -0.04537 0.15886 -0.04885 0.16355 -0.04607 C 0.16368 -0.04491 0.16368 -0.04352 0.1642 -0.0426 C 0.16732 -0.03681 0.16628 -0.04398 0.16797 -0.03681 C 0.16862 -0.03473 0.16888 -0.03218 0.16927 -0.02986 L 0.16993 -0.02662 C 0.17019 -0.02547 0.17045 -0.02431 0.17058 -0.02315 C 0.17214 -0.01343 0.17149 -0.01783 0.17253 -0.01042 C 0.17318 -0.01158 0.17396 -0.0125 0.17448 -0.01389 C 0.17487 -0.01482 0.17474 -0.01644 0.17513 -0.01736 C 0.17565 -0.01852 0.17644 -0.01898 0.17709 -0.01968 C 0.1793 -0.03172 0.17722 -0.02223 0.17969 -0.02986 C 0.18008 -0.03148 0.18021 -0.03334 0.18099 -0.03449 C 0.18256 -0.0375 0.18464 -0.03936 0.18672 -0.04028 C 0.18776 -0.04074 0.18894 -0.04098 0.18998 -0.04144 C 0.19284 -0.04098 0.19558 -0.04098 0.19844 -0.04028 C 0.19909 -0.04028 0.19987 -0.04005 0.20039 -0.03912 C 0.20547 -0.02986 0.20052 -0.0338 0.20482 -0.03102 C 0.20573 -0.02894 0.2069 -0.02686 0.20743 -0.02431 C 0.20769 -0.02315 0.20769 -0.02176 0.20808 -0.02084 C 0.2086 -0.01968 0.20938 -0.01922 0.21003 -0.01852 C 0.21042 -0.01621 0.21055 -0.01366 0.21133 -0.01158 C 0.21172 -0.01042 0.21224 -0.00949 0.21263 -0.00811 C 0.21524 0.00139 0.21081 -0.01111 0.21459 -0.00116 C 0.2155 -0.00811 0.21498 -0.0044 0.21654 -0.01273 C 0.21667 -0.01389 0.2168 -0.01528 0.21719 -0.01621 C 0.22175 -0.02848 0.21459 -0.00973 0.22032 -0.02315 C 0.22136 -0.02523 0.22227 -0.02755 0.22292 -0.02986 C 0.22344 -0.03148 0.22357 -0.03334 0.22422 -0.03449 C 0.22474 -0.03542 0.22552 -0.03542 0.22618 -0.03565 C 0.22813 -0.03797 0.22839 -0.03866 0.23073 -0.04028 C 0.23138 -0.04074 0.23203 -0.04098 0.23269 -0.04144 C 0.2362 -0.04121 0.2444 -0.04306 0.24948 -0.03912 C 0.25039 -0.03843 0.25118 -0.03773 0.25209 -0.03681 C 0.25417 -0.03102 0.25274 -0.03426 0.25717 -0.02894 L 0.25912 -0.02662 C 0.26042 -0.01968 0.25873 -0.02616 0.26237 -0.02084 C 0.26394 -0.01852 0.26355 -0.0169 0.26433 -0.01389 C 0.26472 -0.01273 0.26524 -0.01158 0.26563 -0.01042 C 0.26862 0.00555 0.2655 -0.00764 0.26888 -0.02547 L 0.27084 -0.03565 C 0.27097 -0.03681 0.27084 -0.03843 0.27149 -0.03912 L 0.27344 -0.04144 C 0.27357 -0.0426 0.27357 -0.04398 0.27409 -0.04491 C 0.27448 -0.04584 0.27539 -0.04561 0.27592 -0.04607 C 0.28151 -0.05023 0.27592 -0.04676 0.28047 -0.04954 C 0.28698 -0.04815 0.28399 -0.04931 0.28959 -0.04607 L 0.29154 -0.04491 C 0.29284 -0.0375 0.29089 -0.04491 0.29467 -0.04028 C 0.29701 -0.0375 0.29519 -0.03681 0.29662 -0.03334 C 0.29714 -0.03241 0.29792 -0.03195 0.29857 -0.03102 C 0.30065 -0.0257 0.29961 -0.02894 0.30118 -0.02084 L 0.30183 -0.01736 C 0.30222 -0.01204 0.30235 0.00393 0.30313 -0.00116 C 0.3043 -0.00996 0.30287 -0.00162 0.30573 -0.01158 C 0.30625 -0.01343 0.30638 -0.01551 0.30703 -0.01736 C 0.30743 -0.01875 0.30834 -0.01945 0.30899 -0.02084 C 0.31511 -0.03565 0.30834 -0.02014 0.31146 -0.02986 C 0.31368 -0.03658 0.31342 -0.03311 0.31602 -0.03912 C 0.3168 -0.04098 0.31732 -0.04306 0.31797 -0.04491 C 0.3194 -0.04838 0.32162 -0.0544 0.32383 -0.05764 C 0.32435 -0.05834 0.325 -0.05926 0.32578 -0.05996 C 0.32631 -0.06042 0.32709 -0.06065 0.32774 -0.06088 C 0.3293 -0.06088 0.33529 -0.06111 0.33802 -0.0588 C 0.33868 -0.05811 0.33933 -0.05718 0.33998 -0.05648 C 0.34024 -0.05533 0.34011 -0.05371 0.34063 -0.05301 C 0.34115 -0.05209 0.34206 -0.05255 0.34258 -0.05186 C 0.3431 -0.05093 0.34349 -0.04954 0.34388 -0.04838 C 0.34453 -0.04653 0.34519 -0.04468 0.34584 -0.0426 C 0.34675 -0.03959 0.34727 -0.03635 0.34831 -0.03334 C 0.35 -0.02894 0.34948 -0.03125 0.35026 -0.02662 C 0.35013 -0.01991 0.34935 -0.01343 0.34961 -0.00695 C 0.34974 -0.00556 0.35039 -0.00949 0.35092 -0.01042 C 0.3517 -0.01158 0.35274 -0.01204 0.35352 -0.01273 C 0.35417 -0.01644 0.35482 -0.02084 0.35677 -0.02315 L 0.35873 -0.02547 L 0.36133 -0.03218 C 0.36172 -0.03334 0.36185 -0.03519 0.36263 -0.03565 L 0.36459 -0.03681 C 0.36524 -0.03773 0.36576 -0.03866 0.36641 -0.03912 C 0.36771 -0.04005 0.37032 -0.04144 0.37032 -0.04144 C 0.37448 -0.04098 0.37878 -0.04213 0.38269 -0.03912 C 0.38347 -0.03843 0.38438 -0.03773 0.38516 -0.03681 C 0.38542 -0.03565 0.38555 -0.03449 0.38581 -0.03334 C 0.38659 -0.03102 0.38802 -0.02917 0.38842 -0.02662 C 0.38868 -0.02547 0.38868 -0.02408 0.38907 -0.02315 C 0.38959 -0.02199 0.39037 -0.02153 0.39102 -0.02084 C 0.39271 -0.01204 0.3905 -0.02269 0.39297 -0.01389 C 0.39362 -0.01158 0.39401 -0.00695 0.39427 -0.00463 C 0.39453 -0.00787 0.3944 -0.01088 0.39493 -0.01389 C 0.39506 -0.01528 0.39584 -0.01621 0.39623 -0.01736 C 0.3987 -0.02616 0.39414 -0.01436 0.39883 -0.02547 C 0.40052 -0.03449 0.39792 -0.02385 0.40144 -0.02986 C 0.4043 -0.03519 0.40105 -0.03357 0.40391 -0.03797 C 0.40495 -0.03959 0.40612 -0.04028 0.40717 -0.04144 C 0.40743 -0.0426 0.40743 -0.04398 0.40782 -0.04491 C 0.40834 -0.04584 0.40912 -0.04561 0.40977 -0.04607 C 0.41537 -0.05023 0.40977 -0.04676 0.41433 -0.04954 C 0.41797 -0.04908 0.42162 -0.04908 0.42526 -0.04838 C 0.42618 -0.04815 0.42709 -0.04792 0.42787 -0.04723 C 0.42865 -0.04676 0.42917 -0.04561 0.42982 -0.04491 C 0.43125 -0.0375 0.42943 -0.04561 0.43243 -0.03797 C 0.43295 -0.03658 0.43321 -0.03496 0.43373 -0.03334 C 0.43412 -0.03218 0.43464 -0.03125 0.43503 -0.02986 C 0.43581 -0.02732 0.43607 -0.02199 0.43633 -0.01968 C 0.43737 -0.00556 0.43633 -0.01366 0.43763 -0.00463 C 0.43802 -0.00579 0.43855 -0.00695 0.43894 -0.00811 C 0.43933 -0.00996 0.43985 -0.01436 0.44011 -0.01621 C 0.44037 -0.01736 0.4405 -0.01852 0.44076 -0.01968 C 0.44115 -0.02084 0.4418 -0.02176 0.44206 -0.02315 C 0.44245 -0.02408 0.44232 -0.0257 0.44271 -0.02662 C 0.44388 -0.02848 0.44662 -0.03102 0.44662 -0.03102 C 0.44766 -0.03681 0.44649 -0.03334 0.44987 -0.03681 C 0.45118 -0.0382 0.45378 -0.04144 0.45378 -0.04144 C 0.45651 -0.04098 0.45938 -0.04121 0.46211 -0.04028 C 0.46289 -0.04005 0.46342 -0.03866 0.46407 -0.03797 C 0.46498 -0.03727 0.46576 -0.03658 0.46667 -0.03565 C 0.46758 -0.03311 0.46836 -0.03056 0.46993 -0.02894 C 0.47045 -0.02824 0.47123 -0.02801 0.47188 -0.02778 C 0.47201 -0.02662 0.47214 -0.02523 0.47253 -0.02431 C 0.47344 -0.02176 0.47578 -0.01898 0.47696 -0.01736 C 0.47865 -0.00903 0.478 -0.01273 0.47891 -0.00579 C 0.48112 -0.01713 0.47761 -0.00116 0.48151 -0.01158 C 0.48203 -0.01297 0.48177 -0.01482 0.48217 -0.01621 C 0.48412 -0.02292 0.48399 -0.02223 0.48672 -0.02547 L 0.48933 -0.03218 C 0.48972 -0.03334 0.48985 -0.03519 0.49063 -0.03565 C 0.49128 -0.03611 0.49193 -0.03635 0.49258 -0.03681 C 0.49323 -0.0375 0.49375 -0.03866 0.4944 -0.03912 C 0.49571 -0.04005 0.49831 -0.04144 0.49831 -0.04144 C 0.50248 -0.04098 0.50651 -0.04121 0.51068 -0.04028 C 0.51211 -0.04005 0.51394 -0.03496 0.51446 -0.03334 C 0.51784 -0.025 0.51563 -0.02824 0.51901 -0.02431 L 0.52097 -0.01389 L 0.52162 -0.01042 L 0.52227 -0.00695 C 0.52253 -0.00811 0.52253 -0.00949 0.52292 -0.01042 C 0.52344 -0.01158 0.52448 -0.01158 0.52487 -0.01273 C 0.52552 -0.01482 0.52539 -0.0176 0.52618 -0.01968 C 0.52657 -0.02084 0.52709 -0.02176 0.52748 -0.02315 C 0.52774 -0.02408 0.52761 -0.0257 0.52813 -0.02662 C 0.52852 -0.02732 0.52943 -0.02732 0.53008 -0.02778 C 0.53256 -0.03449 0.53164 -0.03426 0.53516 -0.03681 C 0.53646 -0.03773 0.53907 -0.03912 0.53907 -0.03912 C 0.54506 -0.0382 0.54519 -0.03889 0.54935 -0.03681 C 0.55013 -0.03658 0.55078 -0.03635 0.55131 -0.03565 C 0.55808 -0.02917 0.55274 -0.03264 0.55717 -0.02986 C 0.55808 -0.02778 0.55925 -0.0257 0.55977 -0.02315 C 0.56081 -0.0176 0.56016 -0.02084 0.56172 -0.01389 C 0.56185 -0.0088 0.56159 -0.00371 0.56237 0.00115 C 0.56276 0.00324 0.56263 -0.00348 0.56302 -0.00579 C 0.56302 -0.00579 0.56459 -0.01436 0.56498 -0.01621 C 0.56511 -0.01736 0.56498 -0.01898 0.56563 -0.01968 L 0.56745 -0.02199 C 0.56823 -0.02547 0.56888 -0.0301 0.57071 -0.03218 L 0.57461 -0.03681 C 0.575 -0.03797 0.57526 -0.03936 0.57592 -0.04028 C 0.57644 -0.04098 0.57722 -0.04098 0.57787 -0.04144 C 0.58334 -0.0463 0.57409 -0.04283 0.58685 -0.04491 C 0.59011 -0.04422 0.59336 -0.04375 0.59662 -0.0426 C 0.59987 -0.04144 0.60026 -0.03681 0.60313 -0.03334 L 0.60495 -0.03102 C 0.60573 -0.02755 0.60638 -0.02315 0.60821 -0.02084 L 0.61016 -0.01852 C 0.61042 -0.01667 0.61055 -0.01459 0.61081 -0.01273 C 0.61133 -0.00949 0.61198 -0.00834 0.61211 -0.00463 C 0.61224 -0.00232 0.61211 4.81481E-6 0.61211 0.00231 " pathEditMode="relative" ptsTypes="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6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48148E-6 L 0.628 0.00463 " pathEditMode="relative" rAng="0" ptsTypes="AA">
                                      <p:cBhvr>
                                        <p:cTn id="8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393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((F - 32)*5) /9;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1242" y="5104291"/>
            <a:ext cx="652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“assign </a:t>
            </a:r>
            <a:r>
              <a:rPr lang="en-US" dirty="0">
                <a:solidFill>
                  <a:schemeClr val="accent4"/>
                </a:solidFill>
              </a:rPr>
              <a:t>C </a:t>
            </a:r>
            <a:r>
              <a:rPr lang="en-US" dirty="0"/>
              <a:t>(</a:t>
            </a:r>
            <a:r>
              <a:rPr lang="en-US" dirty="0" err="1"/>
              <a:t>celsius</a:t>
            </a:r>
            <a:r>
              <a:rPr lang="en-US" dirty="0"/>
              <a:t> temp) to  be </a:t>
            </a:r>
            <a:r>
              <a:rPr lang="en-US" dirty="0">
                <a:solidFill>
                  <a:srgbClr val="FF3399"/>
                </a:solidFill>
              </a:rPr>
              <a:t>stored in </a:t>
            </a:r>
            <a:r>
              <a:rPr lang="en-US" dirty="0" err="1">
                <a:solidFill>
                  <a:srgbClr val="FF3399"/>
                </a:solidFill>
              </a:rPr>
              <a:t>temps_c</a:t>
            </a:r>
            <a:r>
              <a:rPr lang="en-US" dirty="0">
                <a:solidFill>
                  <a:srgbClr val="FF3399"/>
                </a:solidFill>
              </a:rPr>
              <a:t> </a:t>
            </a:r>
            <a:r>
              <a:rPr lang="en-US" dirty="0"/>
              <a:t>at index number x”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11225048" y="5210503"/>
            <a:ext cx="204952" cy="189187"/>
          </a:xfrm>
          <a:prstGeom prst="rect">
            <a:avLst/>
          </a:prstGeom>
          <a:solidFill>
            <a:srgbClr val="70AD47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777358" y="5174077"/>
            <a:ext cx="204952" cy="189187"/>
          </a:xfrm>
          <a:prstGeom prst="rect">
            <a:avLst/>
          </a:prstGeom>
          <a:solidFill>
            <a:srgbClr val="70AD47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662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</p:spTree>
    <p:extLst>
      <p:ext uri="{BB962C8B-B14F-4D97-AF65-F5344CB8AC3E}">
        <p14:creationId xmlns:p14="http://schemas.microsoft.com/office/powerpoint/2010/main" val="19451033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</p:spTree>
    <p:extLst>
      <p:ext uri="{BB962C8B-B14F-4D97-AF65-F5344CB8AC3E}">
        <p14:creationId xmlns:p14="http://schemas.microsoft.com/office/powerpoint/2010/main" val="339921102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5477" y="5676655"/>
            <a:ext cx="652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“end the loop, but update the variables we changed in it”</a:t>
            </a:r>
          </a:p>
        </p:txBody>
      </p:sp>
    </p:spTree>
    <p:extLst>
      <p:ext uri="{BB962C8B-B14F-4D97-AF65-F5344CB8AC3E}">
        <p14:creationId xmlns:p14="http://schemas.microsoft.com/office/powerpoint/2010/main" val="264075739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</p:spTree>
    <p:extLst>
      <p:ext uri="{BB962C8B-B14F-4D97-AF65-F5344CB8AC3E}">
        <p14:creationId xmlns:p14="http://schemas.microsoft.com/office/powerpoint/2010/main" val="42676911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run the loop!</a:t>
            </a:r>
          </a:p>
        </p:txBody>
      </p:sp>
    </p:spTree>
    <p:extLst>
      <p:ext uri="{BB962C8B-B14F-4D97-AF65-F5344CB8AC3E}">
        <p14:creationId xmlns:p14="http://schemas.microsoft.com/office/powerpoint/2010/main" val="343475339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28143" y="291219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/>
          <p:cNvSpPr/>
          <p:nvPr/>
        </p:nvSpPr>
        <p:spPr>
          <a:xfrm rot="5400000">
            <a:off x="484259" y="3416131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762297" y="3074276"/>
            <a:ext cx="10957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41124" y="2751160"/>
            <a:ext cx="172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current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418" y="3490002"/>
            <a:ext cx="172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next line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4445877" y="3786352"/>
            <a:ext cx="10957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828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28143" y="291219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/>
          <p:cNvSpPr/>
          <p:nvPr/>
        </p:nvSpPr>
        <p:spPr>
          <a:xfrm rot="5400000">
            <a:off x="484259" y="3416131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53" y="2842390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89691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7740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3" y="3650797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/>
          <p:cNvSpPr/>
          <p:nvPr/>
        </p:nvSpPr>
        <p:spPr>
          <a:xfrm rot="5400000">
            <a:off x="524729" y="4164919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9053" y="3580989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691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560142" y="996219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0309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 0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27835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44963" y="4377352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/>
          <p:cNvSpPr/>
          <p:nvPr/>
        </p:nvSpPr>
        <p:spPr>
          <a:xfrm rot="5400000">
            <a:off x="619322" y="4916356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4980" y="4353221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560142" y="996219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89691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9982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60728" y="5087096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17.78</a:t>
            </a:r>
          </a:p>
        </p:txBody>
      </p:sp>
      <p:sp>
        <p:nvSpPr>
          <p:cNvPr id="6" name="Bent-Up Arrow 5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574513" y="1431974"/>
            <a:ext cx="523411" cy="367978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89691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560142" y="996219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7315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52845" y="291219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17.78</a:t>
            </a:r>
          </a:p>
        </p:txBody>
      </p:sp>
      <p:sp>
        <p:nvSpPr>
          <p:cNvPr id="20" name="Bent-Up Arrow 19"/>
          <p:cNvSpPr/>
          <p:nvPr/>
        </p:nvSpPr>
        <p:spPr>
          <a:xfrm rot="5400000">
            <a:off x="619322" y="3392202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3" y="2842390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369879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560142" y="996219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1124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365436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17.78</a:t>
            </a:r>
          </a:p>
        </p:txBody>
      </p:sp>
      <p:sp>
        <p:nvSpPr>
          <p:cNvPr id="20" name="Bent-Up Arrow 19"/>
          <p:cNvSpPr/>
          <p:nvPr/>
        </p:nvSpPr>
        <p:spPr>
          <a:xfrm rot="5400000">
            <a:off x="532611" y="4164919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2" y="3576624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369879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104929" y="985989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2611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 0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499240" y="4355402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17.78</a:t>
            </a:r>
          </a:p>
        </p:txBody>
      </p:sp>
      <p:sp>
        <p:nvSpPr>
          <p:cNvPr id="20" name="Bent-Up Arrow 19"/>
          <p:cNvSpPr/>
          <p:nvPr/>
        </p:nvSpPr>
        <p:spPr>
          <a:xfrm rot="5400000">
            <a:off x="524729" y="4942271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80" y="4353221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369879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104929" y="985989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8119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499239" y="511286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69879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104929" y="985989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117193" y="1434269"/>
            <a:ext cx="528580" cy="357285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0992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38653" y="2907481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52" y="2853425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942259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104929" y="985989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54009" y="3406246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7973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491360" y="3633501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440" y="3576751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942259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648398" y="984855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59522" y="4110353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61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 0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54420" y="4364274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22.22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79" y="4351741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942259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648398" y="984855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27991" y="4909298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630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60727" y="5128198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22.22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2259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648398" y="984855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648398" y="1433667"/>
            <a:ext cx="529899" cy="343776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4747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3" y="290980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22.22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51" y="2855908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462521" y="69630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648398" y="984855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34214" y="3369891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9209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363113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22.22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1" y="3561233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462521" y="69630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181804" y="1007544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128564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2364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 0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4359052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80" y="4351429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462521" y="69630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181804" y="1007544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875410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2196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511286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2521" y="69630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181804" y="1007544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181803" y="1432068"/>
            <a:ext cx="529899" cy="343776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Bent-Up Arrow 28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785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400267" y="291219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51" y="2851372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006431" y="69665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181804" y="1007544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35001" y="3421123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3501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483477" y="3643452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1" y="3561233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006431" y="69665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741481" y="991567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754771" y="4136234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2896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 0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438532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80" y="4351429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006431" y="69665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741481" y="991567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942616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3083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47587" y="5115502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6431" y="69665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741481" y="991567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741481" y="1429346"/>
            <a:ext cx="529899" cy="345465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6028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291723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51" y="2844681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53939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741481" y="991567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08287" y="3356942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2802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365007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1" y="3561233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53939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274444" y="98378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59522" y="4136234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2110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 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4359338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78" y="4342448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53939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274444" y="98378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909298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7910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491358" y="511286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939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274444" y="98378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274444" y="1424542"/>
            <a:ext cx="529899" cy="347636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1016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91" y="290980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51" y="2842390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08330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274444" y="98378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2" y="3426158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0039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10474" y="3633777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1" y="3575088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08330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818354" y="1010743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59522" y="4110353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4105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 0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42005" y="4342447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78" y="4342020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08330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818354" y="1010743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863774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7233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97184" y="5115502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330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818354" y="1010743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818354" y="1412686"/>
            <a:ext cx="540843" cy="378868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4562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22885" y="2922715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50" y="2834535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653496" y="716343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818354" y="1010743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2" y="3375119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3287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62299" y="3640023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0" y="3562358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653496" y="716343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59195" y="100261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59522" y="4181758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5480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 0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17478" y="4374091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77" y="4351368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653496" y="716343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59195" y="100261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871493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8875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46537" y="5102587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53496" y="716343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59195" y="100261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359195" y="1422619"/>
            <a:ext cx="529899" cy="368935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9697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91" y="291219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50" y="2857284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203533" y="708552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59195" y="100261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1" y="3375119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9296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86826" y="364494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0" y="3560860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203533" y="708552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910113" y="101044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59522" y="4136234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3667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 0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10474" y="4354716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21.11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77" y="4351802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203533" y="708552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910113" y="101044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909298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1806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81419" y="5128198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21.11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3533" y="708552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910113" y="101044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910113" y="1444959"/>
            <a:ext cx="529899" cy="328319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3236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90" y="291219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21.11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50" y="2844888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739560" y="692970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910113" y="101044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1" y="3356942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3954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86824" y="362665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21.11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0" y="3570214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739560" y="692970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447463" y="100261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193356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7885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 0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707348" y="4375626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77" y="4342448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739560" y="692970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447463" y="100261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871493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8087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730996" y="5102587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39560" y="692970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447463" y="100261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447463" y="1417023"/>
            <a:ext cx="529899" cy="374531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0967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90" y="2924986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49" y="2834401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259822" y="696398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447463" y="1002611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1" y="3356942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7769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86825" y="3625661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18.88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49" y="3568836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259822" y="696398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994872" y="98420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716673" y="4164919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6129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 0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705067" y="4357906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80" y="4342448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259822" y="696398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994872" y="98420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773823" y="4871493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6511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81419" y="5102587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9822" y="696398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994872" y="98420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994872" y="1420294"/>
            <a:ext cx="529899" cy="371260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482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91" y="291219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49" y="2839044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733667" y="70438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994872" y="98420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61185" y="3369891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0729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3604533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17.77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49" y="3576163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733667" y="70438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522584" y="100874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59522" y="4181758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0797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 0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59674" y="4344603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22.22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76" y="4336499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733667" y="70438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522584" y="100874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20108" y="4923157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2601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46384" y="511286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22.22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3667" y="70438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522584" y="100874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522584" y="1426877"/>
            <a:ext cx="529899" cy="34045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8971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91" y="291723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22.22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49" y="2843564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277577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522584" y="100874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0" y="3393305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7760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26239" y="361867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22.22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49" y="3574963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277577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071743" y="100060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716673" y="4164919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6169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 0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10474" y="4372105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31.11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80" y="4347195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277577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071743" y="100060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894465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038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18357" y="5139195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31.11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7577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071743" y="100060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071743" y="1435403"/>
            <a:ext cx="529899" cy="356151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9993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89" y="2900374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31.11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49" y="2837642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81360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071743" y="1000602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0" y="3375119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4443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94706" y="3625507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31.11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53" y="3573265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981360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607770" y="1019393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59522" y="4136234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4581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 0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71058" y="4365621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80" y="4342448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81360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607770" y="1019393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920468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1774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27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26237" y="5102587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13604" y="697647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607770" y="1019393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607770" y="1438844"/>
            <a:ext cx="529899" cy="324718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5681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27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2901998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49" y="2848963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0412255" y="686609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607770" y="1019393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524729" y="3421123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1544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27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364240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9049" y="3576786"/>
            <a:ext cx="923154" cy="369331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0412255" y="686609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158249" y="1013786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03556" y="4166925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2880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27 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75439" y="4362853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4980" y="4349018"/>
            <a:ext cx="1451299" cy="369331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0412255" y="686609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158249" y="1013786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nt-Up Arrow 27"/>
          <p:cNvSpPr/>
          <p:nvPr/>
        </p:nvSpPr>
        <p:spPr>
          <a:xfrm rot="5400000">
            <a:off x="687114" y="4871493"/>
            <a:ext cx="538657" cy="498189"/>
          </a:xfrm>
          <a:prstGeom prst="bent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217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27 27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60726" y="5128198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12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12255" y="686609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158249" y="1013786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/>
          <p:cNvSpPr/>
          <p:nvPr/>
        </p:nvSpPr>
        <p:spPr>
          <a:xfrm flipH="1">
            <a:off x="560727" y="3211722"/>
            <a:ext cx="395715" cy="2083045"/>
          </a:xfrm>
          <a:prstGeom prst="bentUpArrow">
            <a:avLst>
              <a:gd name="adj1" fmla="val 25000"/>
              <a:gd name="adj2" fmla="val 26923"/>
              <a:gd name="adj3" fmla="val 2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0158249" y="1427551"/>
            <a:ext cx="529899" cy="36400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851228" y="2920082"/>
            <a:ext cx="559676" cy="201490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7515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27 27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89" y="290323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76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1         2         3         4          5         6          7         8         9        10        11        12        13        14         15         16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49" y="2840258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034991" y="703249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158249" y="1013786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1534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27 27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89" y="290323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76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1         2         3         4          5         6          7         8         9        10        11        12        13        14         15         16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49" y="2840258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034991" y="703249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158249" y="1013786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17076" y="2840258"/>
            <a:ext cx="2743200" cy="438970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837793" y="694791"/>
            <a:ext cx="7945821" cy="265073"/>
          </a:xfrm>
          <a:prstGeom prst="bracketPair">
            <a:avLst>
              <a:gd name="adj" fmla="val 28562"/>
            </a:avLst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3599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27 27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02589" y="2903230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76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1         2         3         4          5         6          7         8         9        10        11        12        13        14         15         16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49" y="2840258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034991" y="703249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158249" y="1013786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17076" y="2840258"/>
            <a:ext cx="2743200" cy="438970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837793" y="694791"/>
            <a:ext cx="7945821" cy="265073"/>
          </a:xfrm>
          <a:prstGeom prst="bracketPair">
            <a:avLst>
              <a:gd name="adj" fmla="val 28562"/>
            </a:avLst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y 11"/>
          <p:cNvSpPr/>
          <p:nvPr/>
        </p:nvSpPr>
        <p:spPr>
          <a:xfrm>
            <a:off x="-834700" y="2920082"/>
            <a:ext cx="7888014" cy="309792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583979" y="3359643"/>
            <a:ext cx="315313" cy="2300154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6113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4494" y="977462"/>
            <a:ext cx="10980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 17 17 22 28 28 30 27 25 21 18 17 22 31 27 27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C = ((F - 32)*5) /9;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temps_c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= C;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95919"/>
              </p:ext>
            </p:extLst>
          </p:nvPr>
        </p:nvGraphicFramePr>
        <p:xfrm>
          <a:off x="2560143" y="999537"/>
          <a:ext cx="8128005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72763"/>
              </p:ext>
            </p:extLst>
          </p:nvPr>
        </p:nvGraphicFramePr>
        <p:xfrm>
          <a:off x="2560144" y="1425794"/>
          <a:ext cx="8128005" cy="365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4032884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15223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817104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77157287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9767422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101548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1153054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386324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5508906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8278074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5361878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9319133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1483869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669562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758509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961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6443" y="2612305"/>
            <a:ext cx="260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“iterate   from   one  to  fifteen”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43" y="3401756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“F equals the value of </a:t>
            </a:r>
            <a:r>
              <a:rPr lang="en-US" sz="1200" b="1" dirty="0" err="1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temps_f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at index number   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Andale Mono" panose="020B05090000000000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152" y="4108330"/>
            <a:ext cx="624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basic algebra: “C equals the F value in </a:t>
            </a:r>
            <a:r>
              <a:rPr lang="en-US" sz="120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152" y="485125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“assign C (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celsius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temp) to  be stored in </a:t>
            </a:r>
            <a:r>
              <a:rPr lang="en-US" sz="1050" dirty="0" err="1">
                <a:solidFill>
                  <a:schemeClr val="bg2">
                    <a:lumMod val="90000"/>
                  </a:schemeClr>
                </a:solidFill>
              </a:rPr>
              <a:t>temps_c</a:t>
            </a:r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 at index number x”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152" y="5578799"/>
            <a:ext cx="6524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“end the loop, but update the variables we changed in it”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504494" y="5845769"/>
            <a:ext cx="5013437" cy="299523"/>
          </a:xfrm>
          <a:prstGeom prst="rect">
            <a:avLst/>
          </a:prstGeom>
          <a:solidFill>
            <a:srgbClr val="FFC000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69053" y="2842390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=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9053" y="3570214"/>
            <a:ext cx="9231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= 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980" y="4342447"/>
            <a:ext cx="14512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= 27.78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6986" y="675306"/>
            <a:ext cx="876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gency FB" panose="020B0503020202020204" pitchFamily="34" charset="0"/>
              </a:rPr>
              <a:t>1         2         3         4          5         6          7         8         9        10        11        12        13        14         15         16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9049" y="2840258"/>
            <a:ext cx="923154" cy="369331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034991" y="703249"/>
            <a:ext cx="275893" cy="279815"/>
          </a:xfrm>
          <a:prstGeom prst="rect">
            <a:avLst/>
          </a:prstGeom>
          <a:solidFill>
            <a:srgbClr val="FF99FF">
              <a:alpha val="3294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158249" y="1013786"/>
            <a:ext cx="529899" cy="363013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1206716" y="6243145"/>
            <a:ext cx="315313" cy="543346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851228" y="3678756"/>
            <a:ext cx="559676" cy="175914"/>
          </a:xfrm>
          <a:prstGeom prst="rect">
            <a:avLst/>
          </a:prstGeom>
          <a:solidFill>
            <a:schemeClr val="accent6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669053" y="4440103"/>
            <a:ext cx="923154" cy="184363"/>
          </a:xfrm>
          <a:prstGeom prst="rect">
            <a:avLst/>
          </a:prstGeom>
          <a:solidFill>
            <a:schemeClr val="accent1">
              <a:alpha val="32941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5200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questions are there?</a:t>
            </a:r>
          </a:p>
        </p:txBody>
      </p:sp>
    </p:spTree>
    <p:extLst>
      <p:ext uri="{BB962C8B-B14F-4D97-AF65-F5344CB8AC3E}">
        <p14:creationId xmlns:p14="http://schemas.microsoft.com/office/powerpoint/2010/main" val="2792305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16185</Words>
  <Application>Microsoft Macintosh PowerPoint</Application>
  <PresentationFormat>Widescreen</PresentationFormat>
  <Paragraphs>1578</Paragraphs>
  <Slides>161</Slides>
  <Notes>0</Notes>
  <HiddenSlides>19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161</vt:i4>
      </vt:variant>
    </vt:vector>
  </HeadingPairs>
  <TitlesOfParts>
    <vt:vector size="168" baseType="lpstr">
      <vt:lpstr>Agency FB</vt:lpstr>
      <vt:lpstr>Andale Mono</vt:lpstr>
      <vt:lpstr>Arial</vt:lpstr>
      <vt:lpstr>Calibri</vt:lpstr>
      <vt:lpstr>Calibri Light</vt:lpstr>
      <vt:lpstr>Courier New</vt:lpstr>
      <vt:lpstr>Office Theme</vt:lpstr>
      <vt:lpstr>Lesson 3: Loops</vt:lpstr>
      <vt:lpstr>Programming imitates life</vt:lpstr>
      <vt:lpstr>What are loops? </vt:lpstr>
      <vt:lpstr>Loops in the wild </vt:lpstr>
      <vt:lpstr>While Loop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While loop example</vt:lpstr>
      <vt:lpstr>What questions are there?</vt:lpstr>
      <vt:lpstr>For Loop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For Loop Example</vt:lpstr>
      <vt:lpstr>What questions are there?</vt:lpstr>
      <vt:lpstr>If statements</vt:lpstr>
      <vt:lpstr>If statement – example 1</vt:lpstr>
      <vt:lpstr>If statement – example 2</vt:lpstr>
      <vt:lpstr>Grocery shopping example</vt:lpstr>
      <vt:lpstr>Grocery shopping example</vt:lpstr>
      <vt:lpstr>Grocery shopping example</vt:lpstr>
      <vt:lpstr>What questions are there?</vt:lpstr>
      <vt:lpstr>Now for the coding lesson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run the loop!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questions are there?</vt:lpstr>
    </vt:vector>
  </TitlesOfParts>
  <Company>University of Michigan Health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3: For Loops</dc:title>
  <dc:creator>Furman, Katherine</dc:creator>
  <cp:lastModifiedBy>Gould, Jonathan</cp:lastModifiedBy>
  <cp:revision>57</cp:revision>
  <dcterms:created xsi:type="dcterms:W3CDTF">2020-05-29T17:07:54Z</dcterms:created>
  <dcterms:modified xsi:type="dcterms:W3CDTF">2025-08-06T15:30:09Z</dcterms:modified>
</cp:coreProperties>
</file>